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9" r:id="rId9"/>
    <p:sldId id="291" r:id="rId10"/>
    <p:sldId id="288" r:id="rId11"/>
    <p:sldId id="290" r:id="rId12"/>
    <p:sldId id="263" r:id="rId13"/>
    <p:sldId id="264" r:id="rId14"/>
    <p:sldId id="285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8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F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4297680"/>
            <a:ext cx="3291840" cy="3291840"/>
          </a:xfrm>
          <a:prstGeom prst="ellipse">
            <a:avLst/>
          </a:prstGeom>
          <a:solidFill>
            <a:srgbClr val="0F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874519"/>
            <a:ext cx="146304" cy="2011680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4B78B"/>
                </a:solidFill>
                <a:latin typeface="Trebuchet MS"/>
              </a:rPr>
              <a:t>SESSION 01 / 10  ·  3 h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2412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Trebuchet MS"/>
              </a:rPr>
              <a:t>Introduction à l'architecture fullstack avec Django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416052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1">
                <a:solidFill>
                  <a:srgbClr val="B7CCC3"/>
                </a:solidFill>
                <a:latin typeface="Calibri"/>
              </a:rPr>
              <a:t>Pose des fondations et premier projet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58064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B7CCC3"/>
                </a:solidFill>
                <a:latin typeface="Calibri"/>
              </a:rPr>
              <a:t>Architecture </a:t>
            </a:r>
            <a:r>
              <a:rPr sz="1250" b="0" i="0" dirty="0" err="1">
                <a:solidFill>
                  <a:srgbClr val="B7CCC3"/>
                </a:solidFill>
                <a:latin typeface="Calibri"/>
              </a:rPr>
              <a:t>Fullstack</a:t>
            </a:r>
            <a:r>
              <a:rPr sz="1250" b="0" i="0" dirty="0">
                <a:solidFill>
                  <a:srgbClr val="B7CCC3"/>
                </a:solidFill>
                <a:latin typeface="Calibri"/>
              </a:rPr>
              <a:t> avec Django   ·   Master 2 LDF (BAC+5)   ·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AU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92E20"/>
                </a:solidFill>
                <a:latin typeface="Trebuchet MS"/>
              </a:rPr>
              <a:t>Plan de la session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74519"/>
            <a:ext cx="457200" cy="45720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rebuchet M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892807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Qu'est-ce qu'une architecture fullstack ?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624327"/>
            <a:ext cx="457200" cy="45720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2642615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Le rôle de Django dans le stack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374135"/>
            <a:ext cx="457200" cy="45720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392423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Le pattern MVT et le cycle requête / réponse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123944"/>
            <a:ext cx="457200" cy="45720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rebuchet M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4142232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L'écosystème « batteries included »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873752"/>
            <a:ext cx="457200" cy="45720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rebuchet MS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489204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Préparer l'environnement (venv, pip)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1874519"/>
            <a:ext cx="457200" cy="457200"/>
          </a:xfrm>
          <a:prstGeom prst="ellipse">
            <a:avLst/>
          </a:prstGeom>
          <a:solidFill>
            <a:srgbClr val="2E8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rebuchet MS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892807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Créer un projet, une première vue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2624327"/>
            <a:ext cx="457200" cy="457200"/>
          </a:xfrm>
          <a:prstGeom prst="ellipse">
            <a:avLst/>
          </a:prstGeom>
          <a:solidFill>
            <a:srgbClr val="2E8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rebuchet MS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2642615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Initialiser Git proprement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3374135"/>
            <a:ext cx="457200" cy="457200"/>
          </a:xfrm>
          <a:prstGeom prst="ellipse">
            <a:avLst/>
          </a:prstGeom>
          <a:solidFill>
            <a:srgbClr val="2E8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rebuchet MS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3392423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Exercices guidés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4123944"/>
            <a:ext cx="457200" cy="457200"/>
          </a:xfrm>
          <a:prstGeom prst="ellipse">
            <a:avLst/>
          </a:prstGeom>
          <a:solidFill>
            <a:srgbClr val="2E8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rebuchet MS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4142232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Pièges &amp; bonnes pratiques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4873752"/>
            <a:ext cx="457200" cy="457200"/>
          </a:xfrm>
          <a:prstGeom prst="ellipse">
            <a:avLst/>
          </a:prstGeom>
          <a:solidFill>
            <a:srgbClr val="2E8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rebuchet MS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489204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À retenir + quiz éclair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OBJECTIFS DE LA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92E20"/>
                </a:solidFill>
                <a:latin typeface="Trebuchet MS"/>
              </a:rPr>
              <a:t>Ce que vous saurez faire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856231"/>
            <a:ext cx="310896" cy="310896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82880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2420"/>
                </a:solidFill>
                <a:latin typeface="Calibri"/>
              </a:rPr>
              <a:t>Comprendre ce qu'est une architecture fullstack et le rôle qu'y joue Django.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87751"/>
            <a:ext cx="310896" cy="310896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56032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2420"/>
                </a:solidFill>
                <a:latin typeface="Calibri"/>
              </a:rPr>
              <a:t>Revoir le modèle MVT (Model-View-Template) et le cycle requête / réponse.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319271"/>
            <a:ext cx="310896" cy="310896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291839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2420"/>
                </a:solidFill>
                <a:latin typeface="Calibri"/>
              </a:rPr>
              <a:t>Installer Python, créer un environnement virtuel et démarrer un projet Django propre.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096511"/>
            <a:ext cx="310896" cy="310896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069079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A2420"/>
                </a:solidFill>
                <a:latin typeface="Calibri"/>
              </a:rPr>
              <a:t>Initialiser un dépôt Git, écrire un premier commit et servir une page d'accueil.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MÉTHODOLOGIE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92E20"/>
                </a:solidFill>
                <a:latin typeface="Trebuchet MS"/>
              </a:rPr>
              <a:t>Déroulé pédagogique de la 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454396" cy="1984248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454396" cy="109728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2066544"/>
            <a:ext cx="49789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92E20"/>
                </a:solidFill>
                <a:latin typeface="Trebuchet MS"/>
              </a:rPr>
              <a:t>Apports théoriques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633472"/>
            <a:ext cx="497890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420"/>
                </a:solidFill>
                <a:latin typeface="Calibri"/>
              </a:rPr>
              <a:t>Cadrage des notions clés en format court (15 à 45 min).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828800"/>
            <a:ext cx="5454396" cy="1984248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1636" y="1828800"/>
            <a:ext cx="5454396" cy="109728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9380" y="2066544"/>
            <a:ext cx="4978908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lang="fr-FR" sz="1500" b="1" i="0" dirty="0">
                <a:solidFill>
                  <a:srgbClr val="092E20"/>
                </a:solidFill>
                <a:latin typeface="Trebuchet MS"/>
              </a:rPr>
              <a:t>Code commenté</a:t>
            </a:r>
            <a:endParaRPr sz="1500" b="1" i="0" dirty="0">
              <a:solidFill>
                <a:srgbClr val="092E20"/>
              </a:solidFill>
              <a:latin typeface="Trebuchet M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69380" y="2633472"/>
            <a:ext cx="4978908" cy="190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fr-FR" sz="1200" dirty="0">
                <a:solidFill>
                  <a:srgbClr val="1A2420"/>
                </a:solidFill>
                <a:latin typeface="Calibri"/>
              </a:rPr>
              <a:t>C</a:t>
            </a:r>
            <a:r>
              <a:rPr sz="1200" b="0" i="0" dirty="0">
                <a:solidFill>
                  <a:srgbClr val="1A2420"/>
                </a:solidFill>
                <a:latin typeface="Calibri"/>
              </a:rPr>
              <a:t>ode, </a:t>
            </a:r>
            <a:r>
              <a:rPr sz="1200" b="0" i="0" dirty="0" err="1">
                <a:solidFill>
                  <a:srgbClr val="1A2420"/>
                </a:solidFill>
                <a:latin typeface="Calibri"/>
              </a:rPr>
              <a:t>commenté</a:t>
            </a:r>
            <a:r>
              <a:rPr sz="1200" b="0" i="0" dirty="0">
                <a:solidFill>
                  <a:srgbClr val="1A2420"/>
                </a:solidFill>
                <a:latin typeface="Calibri"/>
              </a:rPr>
              <a:t> pas à pas.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14216"/>
            <a:ext cx="5454396" cy="1984248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4014216"/>
            <a:ext cx="5454396" cy="109728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" y="4251960"/>
            <a:ext cx="4978908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 dirty="0">
                <a:solidFill>
                  <a:srgbClr val="092E20"/>
                </a:solidFill>
                <a:latin typeface="Trebuchet MS"/>
              </a:rPr>
              <a:t>Pratique </a:t>
            </a:r>
            <a:r>
              <a:rPr sz="1500" b="1" i="0" dirty="0" err="1">
                <a:solidFill>
                  <a:srgbClr val="092E20"/>
                </a:solidFill>
                <a:latin typeface="Trebuchet MS"/>
              </a:rPr>
              <a:t>guidée</a:t>
            </a:r>
            <a:r>
              <a:rPr sz="1500" b="1" i="0" dirty="0">
                <a:solidFill>
                  <a:srgbClr val="092E20"/>
                </a:solidFill>
                <a:latin typeface="Trebuchet MS"/>
              </a:rPr>
              <a:t> </a:t>
            </a:r>
            <a:r>
              <a:rPr lang="fr-FR" sz="1500" b="1" i="0" dirty="0">
                <a:solidFill>
                  <a:srgbClr val="092E20"/>
                </a:solidFill>
                <a:latin typeface="Trebuchet MS"/>
              </a:rPr>
              <a:t>&amp;</a:t>
            </a:r>
            <a:r>
              <a:rPr sz="1500" b="1" i="0" dirty="0">
                <a:solidFill>
                  <a:srgbClr val="092E20"/>
                </a:solidFill>
                <a:latin typeface="Trebuchet MS"/>
              </a:rPr>
              <a:t> </a:t>
            </a:r>
            <a:r>
              <a:rPr sz="1500" b="1" i="0" dirty="0" err="1">
                <a:solidFill>
                  <a:srgbClr val="092E20"/>
                </a:solidFill>
                <a:latin typeface="Trebuchet MS"/>
              </a:rPr>
              <a:t>autonome</a:t>
            </a:r>
            <a:endParaRPr sz="1500" b="1" i="0" dirty="0">
              <a:solidFill>
                <a:srgbClr val="092E20"/>
              </a:solidFill>
              <a:latin typeface="Trebuchet M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" y="4818888"/>
            <a:ext cx="497890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420"/>
                </a:solidFill>
                <a:latin typeface="Calibri"/>
              </a:rPr>
              <a:t>Avancement du projet fil rouge (60 à 110 min).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4014216"/>
            <a:ext cx="5454396" cy="1984248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31636" y="4014216"/>
            <a:ext cx="5454396" cy="109728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9380" y="4251960"/>
            <a:ext cx="49789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92E20"/>
                </a:solidFill>
                <a:latin typeface="Trebuchet MS"/>
              </a:rPr>
              <a:t>Quiz &amp; revue de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9380" y="4818888"/>
            <a:ext cx="497890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420"/>
                </a:solidFill>
                <a:latin typeface="Calibri"/>
              </a:rPr>
              <a:t>Validation des acquis et ajustement du rythme en fin de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CONTEXTE &amp; PRÉ-REQUIS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92E20"/>
                </a:solidFill>
                <a:latin typeface="Trebuchet MS"/>
              </a:rPr>
              <a:t>Avant de commencer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544824" cy="4023360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3544824" cy="109728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2066544"/>
            <a:ext cx="3069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92E20"/>
                </a:solidFill>
                <a:latin typeface="Trebuchet MS"/>
              </a:rPr>
              <a:t>Pré-requis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633472"/>
            <a:ext cx="3069336" cy="306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420"/>
                </a:solidFill>
                <a:latin typeface="Calibri"/>
              </a:rPr>
              <a:t>Bases de Python (fonctions, classes, modules) et Git installé sur le poste.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1828800"/>
            <a:ext cx="3544824" cy="4023360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22064" y="1828800"/>
            <a:ext cx="3544824" cy="109728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9808" y="2066544"/>
            <a:ext cx="3069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92E20"/>
                </a:solidFill>
                <a:latin typeface="Trebuchet MS"/>
              </a:rPr>
              <a:t>Outils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808" y="2633472"/>
            <a:ext cx="3069336" cy="306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420"/>
                </a:solidFill>
                <a:latin typeface="Calibri"/>
              </a:rPr>
              <a:t>Python 3.12, un éditeur (VS Code), un terminal, un compte GitHub/GitLab.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1208" y="1828800"/>
            <a:ext cx="3544824" cy="4023360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41208" y="1828800"/>
            <a:ext cx="3544824" cy="109728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8952" y="2066544"/>
            <a:ext cx="3069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92E20"/>
                </a:solidFill>
                <a:latin typeface="Trebuchet MS"/>
              </a:rPr>
              <a:t>Livrable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8952" y="2633472"/>
            <a:ext cx="3069336" cy="306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420"/>
                </a:solidFill>
                <a:latin typeface="Calibri"/>
              </a:rPr>
              <a:t>Projet Django initialisé, page d'accueil fonctionnelle, dépôt Git partagé.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PROJET FIL ROUGE · DATAVIZ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92E20"/>
                </a:solidFill>
                <a:latin typeface="Trebuchet MS"/>
              </a:rPr>
              <a:t>Où en est le projet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Tout le cours s'articule autour d'un projet fil rouge : DataViz Explorer, une plateforme de téléversement, d'analyse et de visualisation de jeux de données (CSV / Excel). On le construit incrémentalement, session après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43200"/>
            <a:ext cx="5532120" cy="3246120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8B66"/>
                </a:solidFill>
                <a:latin typeface="Trebuchet MS"/>
              </a:rPr>
              <a:t>✓ DÉJÀ EN PLACE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520440"/>
            <a:ext cx="118872" cy="118872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456432"/>
            <a:ext cx="4800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20"/>
                </a:solidFill>
                <a:latin typeface="Calibri"/>
              </a:rPr>
              <a:t>Rien encore : on part d'une page blanche.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743200"/>
            <a:ext cx="5422392" cy="3246120"/>
          </a:xfrm>
          <a:prstGeom prst="roundRect">
            <a:avLst>
              <a:gd name="adj" fmla="val 6000"/>
            </a:avLst>
          </a:prstGeom>
          <a:solidFill>
            <a:srgbClr val="092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9260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4B78B"/>
                </a:solidFill>
                <a:latin typeface="Trebuchet MS"/>
              </a:rPr>
              <a:t>→ AJOUTÉ DANS CETTE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3520440"/>
            <a:ext cx="118872" cy="118872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84848" y="3456432"/>
            <a:ext cx="4709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Environnement virtuel isolé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3904488"/>
            <a:ext cx="118872" cy="118872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84848" y="3840480"/>
            <a:ext cx="4709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Squelette de projet Django (config/)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288536"/>
            <a:ext cx="118872" cy="118872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84848" y="4224528"/>
            <a:ext cx="4709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Première vue + page d'accueil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4672584"/>
            <a:ext cx="118872" cy="118872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84848" y="4608576"/>
            <a:ext cx="4709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Dépôt Git + .gitignore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B7CCC3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B7CCC3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B7CCC3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B7CCC3"/>
                </a:solidFill>
                <a:latin typeface="Calibri"/>
              </a:rPr>
              <a:t>06</a:t>
            </a:r>
          </a:p>
        </p:txBody>
      </p:sp>
      <p:sp>
        <p:nvSpPr>
          <p:cNvPr id="4" name="Oval 3"/>
          <p:cNvSpPr/>
          <p:nvPr/>
        </p:nvSpPr>
        <p:spPr>
          <a:xfrm>
            <a:off x="-1371600" y="4206240"/>
            <a:ext cx="3840480" cy="3840480"/>
          </a:xfrm>
          <a:prstGeom prst="ellipse">
            <a:avLst/>
          </a:prstGeom>
          <a:solidFill>
            <a:srgbClr val="0F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-1463040"/>
            <a:ext cx="3657600" cy="3657600"/>
          </a:xfrm>
          <a:prstGeom prst="ellipse">
            <a:avLst/>
          </a:prstGeom>
          <a:solidFill>
            <a:srgbClr val="0F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3774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44B78B"/>
                </a:solidFill>
                <a:latin typeface="Trebuchet M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Trebuchet MS"/>
              </a:rPr>
              <a:t>Notions clés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4023360"/>
            <a:ext cx="8595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B7CCC3"/>
                </a:solidFill>
                <a:latin typeface="Calibri"/>
              </a:rPr>
              <a:t>Architecture web, Django et le pattern MVT.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0AB0B102-CAB9-CF04-4249-AD6D3A9B6575}"/>
              </a:ext>
            </a:extLst>
          </p:cNvPr>
          <p:cNvSpPr txBox="1"/>
          <p:nvPr/>
        </p:nvSpPr>
        <p:spPr>
          <a:xfrm>
            <a:off x="502920" y="457200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250" b="1" dirty="0">
                <a:solidFill>
                  <a:srgbClr val="44B78B"/>
                </a:solidFill>
                <a:latin typeface="Trebuchet MS"/>
              </a:rPr>
              <a:t>Histoire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0F35EDB8-DD6F-3F66-2B9D-1C64EE24D484}"/>
              </a:ext>
            </a:extLst>
          </p:cNvPr>
          <p:cNvSpPr txBox="1"/>
          <p:nvPr/>
        </p:nvSpPr>
        <p:spPr>
          <a:xfrm>
            <a:off x="502920" y="786384"/>
            <a:ext cx="11155680" cy="965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  <a:spcAft>
                <a:spcPts val="400"/>
              </a:spcAft>
            </a:pPr>
            <a:r>
              <a:rPr lang="fr-FR" sz="3200" b="1" dirty="0">
                <a:latin typeface="Trebuchet MS" panose="020B0603020202020204" pitchFamily="34" charset="0"/>
              </a:rPr>
              <a:t>L'histoire de Django : des salles de rédaction aux applications web modernes</a:t>
            </a:r>
            <a:endParaRPr sz="3000" b="1" i="0" dirty="0">
              <a:solidFill>
                <a:srgbClr val="092E20"/>
              </a:solidFill>
              <a:latin typeface="Trebuchet MS" panose="020B0603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3DF141D-A1F7-5022-51C8-87650B259137}"/>
              </a:ext>
            </a:extLst>
          </p:cNvPr>
          <p:cNvSpPr txBox="1"/>
          <p:nvPr/>
        </p:nvSpPr>
        <p:spPr>
          <a:xfrm>
            <a:off x="578358" y="2118675"/>
            <a:ext cx="1070533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Les origines (2003 – 2005)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dirty="0"/>
              <a:t>Au début des années 2000, deux développeurs, Adrian Holovaty et Simon Willison, travaillent pour le journal américain Lawrence Journal-World, situé à Lawrence.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dirty="0"/>
              <a:t>Leur mission consiste à développer rapidement des sites web et des applications pour la rédaction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publication d'articles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gestion de bases de données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annuaires locaux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calendriers d'événements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outils internes pour les journalistes. 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None/>
            </a:pPr>
            <a:r>
              <a:rPr lang="fr-FR" dirty="0"/>
              <a:t>Le problème est que les délais du monde de la presse sont extrêmement courts. Les journalistes ont besoin de nouveaux outils en quelques jours, parfois quelques heures.</a:t>
            </a:r>
          </a:p>
        </p:txBody>
      </p:sp>
    </p:spTree>
    <p:extLst>
      <p:ext uri="{BB962C8B-B14F-4D97-AF65-F5344CB8AC3E}">
        <p14:creationId xmlns:p14="http://schemas.microsoft.com/office/powerpoint/2010/main" val="2085315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9F571-EBA4-521A-0145-B86EEA355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4DB4440-2916-BCF8-3AAC-45A889583B6E}"/>
              </a:ext>
            </a:extLst>
          </p:cNvPr>
          <p:cNvSpPr txBox="1"/>
          <p:nvPr/>
        </p:nvSpPr>
        <p:spPr>
          <a:xfrm>
            <a:off x="502920" y="457200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fr-FR" sz="1250" b="1" i="0" dirty="0">
                <a:solidFill>
                  <a:srgbClr val="44B78B"/>
                </a:solidFill>
                <a:latin typeface="Trebuchet MS"/>
              </a:rPr>
              <a:t>Histoire</a:t>
            </a:r>
            <a:endParaRPr sz="1250" b="1" i="0" dirty="0">
              <a:solidFill>
                <a:srgbClr val="44B78B"/>
              </a:solidFill>
              <a:latin typeface="Trebuchet MS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69B23CE5-717F-E1A7-3639-008CA3D98983}"/>
              </a:ext>
            </a:extLst>
          </p:cNvPr>
          <p:cNvSpPr txBox="1"/>
          <p:nvPr/>
        </p:nvSpPr>
        <p:spPr>
          <a:xfrm>
            <a:off x="502920" y="786384"/>
            <a:ext cx="11155680" cy="965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8000"/>
              </a:lnSpc>
              <a:spcAft>
                <a:spcPts val="400"/>
              </a:spcAft>
            </a:pPr>
            <a:r>
              <a:rPr lang="fr-FR" sz="3200" b="1" dirty="0">
                <a:latin typeface="Trebuchet MS" panose="020B0603020202020204" pitchFamily="34" charset="0"/>
              </a:rPr>
              <a:t>L'histoire de Django : des salles de rédaction aux applications web modernes</a:t>
            </a:r>
            <a:endParaRPr sz="3000" b="1" i="0" dirty="0">
              <a:solidFill>
                <a:srgbClr val="092E20"/>
              </a:solidFill>
              <a:latin typeface="Trebuchet MS" panose="020B0603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92C041-A84A-DBAA-0287-C5CAF9A99A7C}"/>
              </a:ext>
            </a:extLst>
          </p:cNvPr>
          <p:cNvSpPr txBox="1"/>
          <p:nvPr/>
        </p:nvSpPr>
        <p:spPr>
          <a:xfrm>
            <a:off x="578358" y="2118675"/>
            <a:ext cx="107053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Les origines (2003 – 2005)</a:t>
            </a:r>
          </a:p>
          <a:p>
            <a:pPr>
              <a:buNone/>
            </a:pPr>
            <a:endParaRPr lang="fr-FR" b="1" dirty="0"/>
          </a:p>
          <a:p>
            <a:r>
              <a:rPr lang="fr-FR" dirty="0"/>
              <a:t>Pour gagner du temps, Adrian Holovaty et Simon Willison commencent à créer un ensemble de composants réutilisables : gestion de base de données, authentification, interface d'administration, formulaires, etc.</a:t>
            </a:r>
          </a:p>
          <a:p>
            <a:r>
              <a:rPr lang="fr-FR" dirty="0"/>
              <a:t>Petit à petit, cet ensemble devient un véritable </a:t>
            </a:r>
            <a:r>
              <a:rPr lang="fr-FR" dirty="0" err="1"/>
              <a:t>framework</a:t>
            </a:r>
            <a:r>
              <a:rPr lang="fr-FR" dirty="0"/>
              <a:t> web interne : Django.</a:t>
            </a:r>
          </a:p>
          <a:p>
            <a:r>
              <a:rPr lang="fr-FR" dirty="0"/>
              <a:t>Le nom </a:t>
            </a:r>
            <a:r>
              <a:rPr lang="fr-FR" b="1" dirty="0"/>
              <a:t>Django</a:t>
            </a:r>
            <a:r>
              <a:rPr lang="fr-FR" dirty="0"/>
              <a:t> est un hommage au célèbre guitariste de jazz manouche Django Reinhardt.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5F5C044-20B5-0CDA-AC9D-CE9552F383F7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3300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6FFFF747-307E-BFB1-CB54-E5CA29F4D92B}"/>
              </a:ext>
            </a:extLst>
          </p:cNvPr>
          <p:cNvSpPr txBox="1"/>
          <p:nvPr/>
        </p:nvSpPr>
        <p:spPr>
          <a:xfrm>
            <a:off x="502920" y="457200"/>
            <a:ext cx="109728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250" b="1" dirty="0">
                <a:solidFill>
                  <a:srgbClr val="44B78B"/>
                </a:solidFill>
                <a:latin typeface="Trebuchet MS"/>
              </a:rPr>
              <a:t>Histoire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012A9EB6-F7CF-AE47-678E-DAE00BBEE047}"/>
              </a:ext>
            </a:extLst>
          </p:cNvPr>
          <p:cNvSpPr txBox="1"/>
          <p:nvPr/>
        </p:nvSpPr>
        <p:spPr>
          <a:xfrm>
            <a:off x="502920" y="786384"/>
            <a:ext cx="11155680" cy="45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lang="fr-FR" sz="3000" b="1" i="0" dirty="0">
                <a:solidFill>
                  <a:srgbClr val="092E20"/>
                </a:solidFill>
                <a:latin typeface="Trebuchet MS"/>
              </a:rPr>
              <a:t>Django dans le temps</a:t>
            </a:r>
            <a:endParaRPr sz="3000" b="1" i="0" dirty="0">
              <a:solidFill>
                <a:srgbClr val="092E20"/>
              </a:solidFill>
              <a:latin typeface="Trebuchet M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C417EB0-F1B1-D688-2FD6-26794ED83C96}"/>
              </a:ext>
            </a:extLst>
          </p:cNvPr>
          <p:cNvSpPr txBox="1"/>
          <p:nvPr/>
        </p:nvSpPr>
        <p:spPr>
          <a:xfrm>
            <a:off x="533400" y="1700784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L'open source (2005)</a:t>
            </a:r>
          </a:p>
          <a:p>
            <a:pPr>
              <a:buNone/>
            </a:pPr>
            <a:r>
              <a:rPr lang="fr-FR" dirty="0"/>
              <a:t>En juillet 2005, l'équipe décide de publier Django en open source sous licence BSD.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7F162B3-D3B5-A200-BFAB-E26C72E2EB38}"/>
              </a:ext>
            </a:extLst>
          </p:cNvPr>
          <p:cNvSpPr txBox="1"/>
          <p:nvPr/>
        </p:nvSpPr>
        <p:spPr>
          <a:xfrm>
            <a:off x="533400" y="3451967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La maturation du </a:t>
            </a:r>
            <a:r>
              <a:rPr lang="fr-FR" b="1" dirty="0" err="1"/>
              <a:t>framework</a:t>
            </a:r>
            <a:r>
              <a:rPr lang="fr-FR" b="1" dirty="0"/>
              <a:t> (années 2010)</a:t>
            </a:r>
          </a:p>
          <a:p>
            <a:pPr>
              <a:buNone/>
            </a:pPr>
            <a:r>
              <a:rPr lang="fr-FR" dirty="0"/>
              <a:t>Pendant les années 2010, Django devient l'un des </a:t>
            </a:r>
            <a:r>
              <a:rPr lang="fr-FR" dirty="0" err="1"/>
              <a:t>frameworks</a:t>
            </a:r>
            <a:r>
              <a:rPr lang="fr-FR" dirty="0"/>
              <a:t> Python les plus populaires au monde.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458C3DA-757F-BEAA-5691-CC455F3E606F}"/>
              </a:ext>
            </a:extLst>
          </p:cNvPr>
          <p:cNvSpPr txBox="1"/>
          <p:nvPr/>
        </p:nvSpPr>
        <p:spPr>
          <a:xfrm>
            <a:off x="3879342" y="2630133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La création de la Django Software </a:t>
            </a:r>
            <a:r>
              <a:rPr lang="fr-FR" b="1" dirty="0" err="1"/>
              <a:t>Foundation</a:t>
            </a:r>
            <a:r>
              <a:rPr lang="fr-FR" b="1" dirty="0"/>
              <a:t> (2008)</a:t>
            </a:r>
          </a:p>
          <a:p>
            <a:pPr>
              <a:buNone/>
            </a:pPr>
            <a:r>
              <a:rPr lang="fr-FR" dirty="0"/>
              <a:t>En 2008 est créée la Django Software </a:t>
            </a:r>
            <a:r>
              <a:rPr lang="fr-FR" dirty="0" err="1"/>
              <a:t>Foundation</a:t>
            </a:r>
            <a:r>
              <a:rPr lang="fr-FR" dirty="0"/>
              <a:t> (DSF).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36FE343-D72B-941E-6CEC-A82BB28B1888}"/>
              </a:ext>
            </a:extLst>
          </p:cNvPr>
          <p:cNvSpPr txBox="1"/>
          <p:nvPr/>
        </p:nvSpPr>
        <p:spPr>
          <a:xfrm>
            <a:off x="5564124" y="4550800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Django 2.0 (2017)</a:t>
            </a:r>
          </a:p>
          <a:p>
            <a:pPr>
              <a:buNone/>
            </a:pPr>
            <a:r>
              <a:rPr lang="fr-FR" dirty="0"/>
              <a:t>Django 2.0 abandonne définitivement Python 2.</a:t>
            </a:r>
          </a:p>
          <a:p>
            <a:pPr>
              <a:buNone/>
            </a:pPr>
            <a:r>
              <a:rPr lang="fr-FR" dirty="0"/>
              <a:t>Le </a:t>
            </a:r>
            <a:r>
              <a:rPr lang="fr-FR" dirty="0" err="1"/>
              <a:t>framework</a:t>
            </a:r>
            <a:r>
              <a:rPr lang="fr-FR" dirty="0"/>
              <a:t> entre alors pleinement dans l'ère Python 3.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E21955A-C6F3-CCDF-F7E5-31DB4C70125C}"/>
              </a:ext>
            </a:extLst>
          </p:cNvPr>
          <p:cNvSpPr txBox="1"/>
          <p:nvPr/>
        </p:nvSpPr>
        <p:spPr>
          <a:xfrm>
            <a:off x="502920" y="5352580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Django 3.1 (2020)</a:t>
            </a:r>
          </a:p>
          <a:p>
            <a:pPr>
              <a:buNone/>
            </a:pPr>
            <a:r>
              <a:rPr lang="fr-FR" dirty="0"/>
              <a:t>Django 3.1 ajoute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vues asynchrones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 middleware asynchrone.</a:t>
            </a:r>
          </a:p>
        </p:txBody>
      </p:sp>
    </p:spTree>
    <p:extLst>
      <p:ext uri="{BB962C8B-B14F-4D97-AF65-F5344CB8AC3E}">
        <p14:creationId xmlns:p14="http://schemas.microsoft.com/office/powerpoint/2010/main" val="2193569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ED39CA62-0327-3181-2277-154110DB5040}"/>
              </a:ext>
            </a:extLst>
          </p:cNvPr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NOTION 2.1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5E46EC6B-1FC1-6BB8-1239-F7C3717E0E6A}"/>
              </a:ext>
            </a:extLst>
          </p:cNvPr>
          <p:cNvSpPr txBox="1"/>
          <p:nvPr/>
        </p:nvSpPr>
        <p:spPr>
          <a:xfrm>
            <a:off x="502920" y="786384"/>
            <a:ext cx="11155680" cy="45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lang="fr-FR" sz="3000" b="1" i="0" dirty="0">
                <a:solidFill>
                  <a:srgbClr val="092E20"/>
                </a:solidFill>
                <a:latin typeface="Trebuchet MS"/>
              </a:rPr>
              <a:t>Django aujourd</a:t>
            </a:r>
            <a:r>
              <a:rPr lang="fr-FR" sz="3000" b="1" dirty="0">
                <a:solidFill>
                  <a:srgbClr val="092E20"/>
                </a:solidFill>
                <a:latin typeface="Trebuchet MS"/>
              </a:rPr>
              <a:t>’hui</a:t>
            </a:r>
            <a:endParaRPr sz="3000" b="1" i="0" dirty="0">
              <a:solidFill>
                <a:srgbClr val="092E20"/>
              </a:solidFill>
              <a:latin typeface="Trebuchet M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4424E9-2DAA-4A21-0EA5-3E3113F14D1B}"/>
              </a:ext>
            </a:extLst>
          </p:cNvPr>
          <p:cNvSpPr txBox="1"/>
          <p:nvPr/>
        </p:nvSpPr>
        <p:spPr>
          <a:xfrm>
            <a:off x="502920" y="2119158"/>
            <a:ext cx="112654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Aujourd'hui, Django reste l'un des </a:t>
            </a:r>
            <a:r>
              <a:rPr lang="fr-FR" dirty="0" err="1"/>
              <a:t>frameworks</a:t>
            </a:r>
            <a:r>
              <a:rPr lang="fr-FR" dirty="0"/>
              <a:t> web Python les plus utilisés au monde.</a:t>
            </a:r>
          </a:p>
          <a:p>
            <a:pPr>
              <a:buNone/>
            </a:pPr>
            <a:r>
              <a:rPr lang="fr-FR" dirty="0"/>
              <a:t>Il est employé par de nombreuses entreprises tech, dont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Instagram à ses débuts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Pinterest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Mozilla pour plusieurs services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/>
              <a:t>Disqus</a:t>
            </a:r>
            <a:r>
              <a:rPr lang="fr-FR" dirty="0"/>
              <a:t>. </a:t>
            </a:r>
          </a:p>
          <a:p>
            <a:endParaRPr lang="fr-FR" dirty="0"/>
          </a:p>
          <a:p>
            <a:pPr>
              <a:buNone/>
            </a:pPr>
            <a:r>
              <a:rPr lang="fr-FR" dirty="0"/>
              <a:t>Sa popularité repose sur un équilibre rare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rapidité de développement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stabilité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sécurité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documentation de grande qualité 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vaste écosystème.</a:t>
            </a:r>
          </a:p>
        </p:txBody>
      </p:sp>
    </p:spTree>
    <p:extLst>
      <p:ext uri="{BB962C8B-B14F-4D97-AF65-F5344CB8AC3E}">
        <p14:creationId xmlns:p14="http://schemas.microsoft.com/office/powerpoint/2010/main" val="3724689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NOTION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92E20"/>
                </a:solidFill>
                <a:latin typeface="Trebuchet MS"/>
              </a:rPr>
              <a:t>Le fullstack en deux mots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1155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2420"/>
                </a:solidFill>
                <a:latin typeface="Calibri"/>
              </a:rPr>
              <a:t>Une application web moderne se décompose en trois couches qui coopèrent à chaque requête.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96896"/>
            <a:ext cx="146304" cy="146304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10698480" cy="229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dirty="0">
                <a:solidFill>
                  <a:srgbClr val="1A2420"/>
                </a:solidFill>
                <a:latin typeface="Calibri"/>
              </a:rPr>
              <a:t>Front-end : </a:t>
            </a:r>
            <a:r>
              <a:rPr sz="1450" b="0" i="0" dirty="0" err="1">
                <a:solidFill>
                  <a:srgbClr val="1A2420"/>
                </a:solidFill>
                <a:latin typeface="Calibri"/>
              </a:rPr>
              <a:t>s'exécute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 dans le </a:t>
            </a:r>
            <a:r>
              <a:rPr sz="1450" b="0" i="0" dirty="0" err="1">
                <a:solidFill>
                  <a:srgbClr val="1A2420"/>
                </a:solidFill>
                <a:latin typeface="Calibri"/>
              </a:rPr>
              <a:t>navigateur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 (HTML, CSS, JavaScript / React) —</a:t>
            </a:r>
            <a:r>
              <a:rPr lang="fr-FR" sz="1450" b="0" i="0" dirty="0">
                <a:solidFill>
                  <a:srgbClr val="1A2420"/>
                </a:solidFill>
                <a:latin typeface="Calibri"/>
              </a:rPr>
              <a:t>&gt;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A2420"/>
                </a:solidFill>
                <a:latin typeface="Calibri"/>
              </a:rPr>
              <a:t>l'expérience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A2420"/>
                </a:solidFill>
                <a:latin typeface="Calibri"/>
              </a:rPr>
              <a:t>utilisateur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1839"/>
            <a:ext cx="146304" cy="146304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209544"/>
            <a:ext cx="10698480" cy="229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dirty="0">
                <a:solidFill>
                  <a:srgbClr val="1A2420"/>
                </a:solidFill>
                <a:latin typeface="Calibri"/>
              </a:rPr>
              <a:t>Back-end : </a:t>
            </a:r>
            <a:r>
              <a:rPr sz="1450" b="0" i="0" dirty="0" err="1">
                <a:solidFill>
                  <a:srgbClr val="1A2420"/>
                </a:solidFill>
                <a:latin typeface="Calibri"/>
              </a:rPr>
              <a:t>répond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 aux </a:t>
            </a:r>
            <a:r>
              <a:rPr sz="1450" b="0" i="0" dirty="0" err="1">
                <a:solidFill>
                  <a:srgbClr val="1A2420"/>
                </a:solidFill>
                <a:latin typeface="Calibri"/>
              </a:rPr>
              <a:t>requêtes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 HTTP (Django, Node, Spring…) —</a:t>
            </a:r>
            <a:r>
              <a:rPr lang="fr-FR" sz="1450" b="0" i="0" dirty="0">
                <a:solidFill>
                  <a:srgbClr val="1A2420"/>
                </a:solidFill>
                <a:latin typeface="Calibri"/>
              </a:rPr>
              <a:t>&gt;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A2420"/>
                </a:solidFill>
                <a:latin typeface="Calibri"/>
              </a:rPr>
              <a:t>logique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 métier et sécurité.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94176"/>
            <a:ext cx="146304" cy="146304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611879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Base de données : persiste les informations (PostgreSQL, MySQL, MongoDB…).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66361"/>
            <a:ext cx="146304" cy="146304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084065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dirty="0">
                <a:solidFill>
                  <a:srgbClr val="1A2420"/>
                </a:solidFill>
                <a:latin typeface="Calibri"/>
              </a:rPr>
              <a:t>Dans </a:t>
            </a:r>
            <a:r>
              <a:rPr sz="1450" b="0" i="0" dirty="0" err="1">
                <a:solidFill>
                  <a:srgbClr val="1A2420"/>
                </a:solidFill>
                <a:latin typeface="Calibri"/>
              </a:rPr>
              <a:t>ce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A2420"/>
                </a:solidFill>
                <a:latin typeface="Calibri"/>
              </a:rPr>
              <a:t>cours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 : pages </a:t>
            </a:r>
            <a:r>
              <a:rPr sz="1450" b="0" i="0" dirty="0" err="1">
                <a:solidFill>
                  <a:srgbClr val="1A2420"/>
                </a:solidFill>
                <a:latin typeface="Calibri"/>
              </a:rPr>
              <a:t>serveur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 Django pour </a:t>
            </a:r>
            <a:r>
              <a:rPr sz="1450" b="0" i="0" dirty="0" err="1">
                <a:solidFill>
                  <a:srgbClr val="1A2420"/>
                </a:solidFill>
                <a:latin typeface="Calibri"/>
              </a:rPr>
              <a:t>l'interface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 interne + API REST pour un front React.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6270356F-24C7-E3AB-AE69-1943EFF573D4}"/>
              </a:ext>
            </a:extLst>
          </p:cNvPr>
          <p:cNvSpPr txBox="1"/>
          <p:nvPr/>
        </p:nvSpPr>
        <p:spPr>
          <a:xfrm>
            <a:off x="868680" y="4636008"/>
            <a:ext cx="10698480" cy="253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fr-FR" sz="1600" dirty="0"/>
              <a:t>Le back end peut servir directement du HTML (« Django classique ») ou exposer une API que le </a:t>
            </a:r>
            <a:r>
              <a:rPr lang="fr-FR" sz="1600" dirty="0" err="1"/>
              <a:t>front-end</a:t>
            </a:r>
            <a:r>
              <a:rPr lang="fr-FR" sz="1600" dirty="0"/>
              <a:t> consomme</a:t>
            </a:r>
            <a:endParaRPr sz="1450" b="0" i="0" dirty="0">
              <a:solidFill>
                <a:srgbClr val="1A242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NOTION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92E20"/>
                </a:solidFill>
                <a:latin typeface="Trebuchet MS"/>
              </a:rPr>
              <a:t>Django et le pattern MVT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349240" cy="4297680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349240" cy="640080"/>
          </a:xfrm>
          <a:prstGeom prst="roundRect">
            <a:avLst>
              <a:gd name="adj" fmla="val 6000"/>
            </a:avLst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Trebuchet MS"/>
              </a:rPr>
              <a:t>Les 3 briques MVT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" y="2770632"/>
            <a:ext cx="118872" cy="118872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 dirty="0">
                <a:solidFill>
                  <a:srgbClr val="1A2420"/>
                </a:solidFill>
                <a:latin typeface="Calibri"/>
              </a:rPr>
              <a:t>Model : </a:t>
            </a:r>
            <a:r>
              <a:rPr sz="1300" b="0" i="0" dirty="0" err="1">
                <a:solidFill>
                  <a:srgbClr val="1A2420"/>
                </a:solidFill>
                <a:latin typeface="Calibri"/>
              </a:rPr>
              <a:t>modèle</a:t>
            </a:r>
            <a:r>
              <a:rPr sz="1300" b="0" i="0" dirty="0">
                <a:solidFill>
                  <a:srgbClr val="1A2420"/>
                </a:solidFill>
                <a:latin typeface="Calibri"/>
              </a:rPr>
              <a:t> de données et </a:t>
            </a:r>
            <a:r>
              <a:rPr sz="1300" b="0" i="0" dirty="0" err="1">
                <a:solidFill>
                  <a:srgbClr val="1A2420"/>
                </a:solidFill>
                <a:latin typeface="Calibri"/>
              </a:rPr>
              <a:t>accès</a:t>
            </a:r>
            <a:r>
              <a:rPr sz="1300" b="0" i="0" dirty="0">
                <a:solidFill>
                  <a:srgbClr val="1A2420"/>
                </a:solidFill>
                <a:latin typeface="Calibri"/>
              </a:rPr>
              <a:t> à la base via </a:t>
            </a:r>
            <a:r>
              <a:rPr sz="1300" b="0" i="0" dirty="0" err="1">
                <a:solidFill>
                  <a:srgbClr val="1A2420"/>
                </a:solidFill>
                <a:latin typeface="Calibri"/>
              </a:rPr>
              <a:t>l'ORM</a:t>
            </a:r>
            <a:r>
              <a:rPr sz="1300" b="0" i="0" dirty="0">
                <a:solidFill>
                  <a:srgbClr val="1A2420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3447288"/>
            <a:ext cx="118872" cy="118872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374136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20"/>
                </a:solidFill>
                <a:latin typeface="Calibri"/>
              </a:rPr>
              <a:t>View : logique métier (≈ le « controller » du MVC).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4123944"/>
            <a:ext cx="118872" cy="118872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050792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20"/>
                </a:solidFill>
                <a:latin typeface="Calibri"/>
              </a:rPr>
              <a:t>Template : rendu HTML renvoyé au navigateur.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83080"/>
            <a:ext cx="5349240" cy="4297680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55080" y="1783080"/>
            <a:ext cx="5349240" cy="640080"/>
          </a:xfrm>
          <a:prstGeom prst="roundRect">
            <a:avLst>
              <a:gd name="adj" fmla="val 6000"/>
            </a:avLst>
          </a:prstGeom>
          <a:solidFill>
            <a:srgbClr val="2E8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1783080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Trebuchet MS"/>
              </a:rPr>
              <a:t>Le routeur fait le lien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47688" y="2770632"/>
            <a:ext cx="118872" cy="118872"/>
          </a:xfrm>
          <a:prstGeom prst="rect">
            <a:avLst/>
          </a:prstGeom>
          <a:solidFill>
            <a:srgbClr val="2E8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269748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20"/>
                </a:solidFill>
                <a:latin typeface="Calibri"/>
              </a:rPr>
              <a:t>urls.py fait correspondre une URL à une vue.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47688" y="3447288"/>
            <a:ext cx="118872" cy="118872"/>
          </a:xfrm>
          <a:prstGeom prst="rect">
            <a:avLst/>
          </a:prstGeom>
          <a:solidFill>
            <a:srgbClr val="2E8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03720" y="3374136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20"/>
                </a:solidFill>
                <a:latin typeface="Calibri"/>
              </a:rPr>
              <a:t>La vue interroge éventuellement les modèles.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47688" y="4123944"/>
            <a:ext cx="118872" cy="118872"/>
          </a:xfrm>
          <a:prstGeom prst="rect">
            <a:avLst/>
          </a:prstGeom>
          <a:solidFill>
            <a:srgbClr val="2E8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20" y="4050792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420"/>
                </a:solidFill>
                <a:latin typeface="Calibri"/>
              </a:rPr>
              <a:t>Puis renvoie une réponse construite avec un template.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6AC8613-EC66-A338-D22F-7702862C2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819275"/>
            <a:ext cx="5316108" cy="265805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7D3D90B-9261-E307-62EF-0C58666D1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550" y="1819275"/>
            <a:ext cx="5816600" cy="266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33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NOTION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92E20"/>
                </a:solidFill>
                <a:latin typeface="Trebuchet MS"/>
              </a:rPr>
              <a:t>Le cycle requête / réponse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1155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A2420"/>
                </a:solidFill>
                <a:latin typeface="Calibri"/>
              </a:rPr>
              <a:t>Comprendre ce trajet est la clé pour déboguer n'importe quelle application Django.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96896"/>
            <a:ext cx="146304" cy="146304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1 — Une requête HTTP arrive et entre par urls.py.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99232"/>
            <a:ext cx="146304" cy="146304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916936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2 — Django la dispatche vers la première view qui matche le pattern d'URL.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01568"/>
            <a:ext cx="146304" cy="146304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31927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3 — La view lit / écrit dans la base via les models si nécessaire.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03904"/>
            <a:ext cx="146304" cy="146304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721608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4 — La view renvoie une HttpResponse construite à partir d'un template.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NOTION 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92E20"/>
                </a:solidFill>
                <a:latin typeface="Trebuchet MS"/>
              </a:rPr>
              <a:t>L'écosystème « batteries included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544824" cy="1984248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3544824" cy="109728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2066544"/>
            <a:ext cx="3069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92E20"/>
                </a:solidFill>
                <a:latin typeface="Trebuchet MS"/>
              </a:rPr>
              <a:t>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633472"/>
            <a:ext cx="3069336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420"/>
                </a:solidFill>
                <a:latin typeface="Calibri"/>
              </a:rPr>
              <a:t>Mappe des classes Python en tables SQL, sans écrire de 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1828800"/>
            <a:ext cx="3544824" cy="1984248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22064" y="1828800"/>
            <a:ext cx="3544824" cy="109728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9808" y="2066544"/>
            <a:ext cx="3069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92E20"/>
                </a:solidFill>
                <a:latin typeface="Trebuchet MS"/>
              </a:rPr>
              <a:t>Templates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808" y="2633472"/>
            <a:ext cx="3069336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420"/>
                </a:solidFill>
                <a:latin typeface="Calibri"/>
              </a:rPr>
              <a:t>Moteur de rendu HTML avec héritage et filtres.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1208" y="1828800"/>
            <a:ext cx="3544824" cy="1984248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41208" y="1828800"/>
            <a:ext cx="3544824" cy="109728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8952" y="2066544"/>
            <a:ext cx="3069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92E20"/>
                </a:solidFill>
                <a:latin typeface="Trebuchet MS"/>
              </a:rPr>
              <a:t>Auth &amp; 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8952" y="2633472"/>
            <a:ext cx="3069336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420"/>
                </a:solidFill>
                <a:latin typeface="Calibri"/>
              </a:rPr>
              <a:t>Système d'authentification et back-office prêts à l'emploi.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14216"/>
            <a:ext cx="3544824" cy="1984248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4014216"/>
            <a:ext cx="3544824" cy="109728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" y="4251960"/>
            <a:ext cx="3069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92E20"/>
                </a:solidFill>
                <a:latin typeface="Trebuchet MS"/>
              </a:rPr>
              <a:t>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4818888"/>
            <a:ext cx="3069336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420"/>
                </a:solidFill>
                <a:latin typeface="Calibri"/>
              </a:rPr>
              <a:t>Déclaration, rendu et validation des formulaires.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2064" y="4014216"/>
            <a:ext cx="3544824" cy="1984248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22064" y="4014216"/>
            <a:ext cx="3544824" cy="109728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59808" y="4251960"/>
            <a:ext cx="3069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92E20"/>
                </a:solidFill>
                <a:latin typeface="Trebuchet MS"/>
              </a:rPr>
              <a:t>Statics &amp; Middlewares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9808" y="4818888"/>
            <a:ext cx="3069336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420"/>
                </a:solidFill>
                <a:latin typeface="Calibri"/>
              </a:rPr>
              <a:t>Gestion des fichiers statiques et pipeline de requêtes.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1208" y="4014216"/>
            <a:ext cx="3544824" cy="1984248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41208" y="4014216"/>
            <a:ext cx="3544824" cy="109728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78952" y="4251960"/>
            <a:ext cx="3069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92E20"/>
                </a:solidFill>
                <a:latin typeface="Trebuchet MS"/>
              </a:rPr>
              <a:t>Extensions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8952" y="4818888"/>
            <a:ext cx="3069336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420"/>
                </a:solidFill>
                <a:latin typeface="Calibri"/>
              </a:rPr>
              <a:t>DRF (API), Channels (temps réel), Celery (tâches async).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B7CCC3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B7CCC3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B7CCC3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B7CCC3"/>
                </a:solidFill>
                <a:latin typeface="Calibri"/>
              </a:rPr>
              <a:t>11</a:t>
            </a:r>
          </a:p>
        </p:txBody>
      </p:sp>
      <p:sp>
        <p:nvSpPr>
          <p:cNvPr id="4" name="Oval 3"/>
          <p:cNvSpPr/>
          <p:nvPr/>
        </p:nvSpPr>
        <p:spPr>
          <a:xfrm>
            <a:off x="-1371600" y="4206240"/>
            <a:ext cx="3840480" cy="3840480"/>
          </a:xfrm>
          <a:prstGeom prst="ellipse">
            <a:avLst/>
          </a:prstGeom>
          <a:solidFill>
            <a:srgbClr val="0F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-1463040"/>
            <a:ext cx="3657600" cy="3657600"/>
          </a:xfrm>
          <a:prstGeom prst="ellipse">
            <a:avLst/>
          </a:prstGeom>
          <a:solidFill>
            <a:srgbClr val="0F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3774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44B78B"/>
                </a:solidFill>
                <a:latin typeface="Trebuchet M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Trebuchet MS"/>
              </a:rPr>
              <a:t>Code en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4023360"/>
            <a:ext cx="8595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B7CCC3"/>
                </a:solidFill>
                <a:latin typeface="Calibri"/>
              </a:rPr>
              <a:t>De l'environnement vierge à la première page servie.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CODE EN ACTION  ·  BASH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92E20"/>
                </a:solidFill>
                <a:latin typeface="Trebuchet MS"/>
              </a:rPr>
              <a:t>Préparer l'environnement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91056"/>
            <a:ext cx="11183112" cy="4526280"/>
          </a:xfrm>
          <a:prstGeom prst="roundRect">
            <a:avLst>
              <a:gd name="adj" fmla="val 6000"/>
            </a:avLst>
          </a:prstGeom>
          <a:solidFill>
            <a:srgbClr val="0B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1773936"/>
            <a:ext cx="118872" cy="118872"/>
          </a:xfrm>
          <a:prstGeom prst="ellipse">
            <a:avLst/>
          </a:prstGeom>
          <a:solidFill>
            <a:srgbClr val="D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9264" y="1773936"/>
            <a:ext cx="118872" cy="118872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88719" y="1773936"/>
            <a:ext cx="118872" cy="118872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66543"/>
            <a:ext cx="10744200" cy="2739211"/>
          </a:xfrm>
          <a:prstGeom prst="rect">
            <a:avLst/>
          </a:prstGeom>
          <a:noFill/>
        </p:spPr>
        <p:txBody>
          <a:bodyPr wrap="square" lIns="4572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B7CCC3"/>
                </a:solidFill>
                <a:latin typeface="Consolas"/>
              </a:rPr>
              <a:t># </a:t>
            </a:r>
            <a:r>
              <a:rPr sz="1250" dirty="0" err="1">
                <a:solidFill>
                  <a:srgbClr val="B7CCC3"/>
                </a:solidFill>
                <a:latin typeface="Consolas"/>
              </a:rPr>
              <a:t>Création</a:t>
            </a:r>
            <a:r>
              <a:rPr sz="1250" dirty="0">
                <a:solidFill>
                  <a:srgbClr val="B7CCC3"/>
                </a:solidFill>
                <a:latin typeface="Consolas"/>
              </a:rPr>
              <a:t> d'un </a:t>
            </a:r>
            <a:r>
              <a:rPr sz="1250" dirty="0" err="1">
                <a:solidFill>
                  <a:srgbClr val="B7CCC3"/>
                </a:solidFill>
                <a:latin typeface="Consolas"/>
              </a:rPr>
              <a:t>environnement</a:t>
            </a:r>
            <a:r>
              <a:rPr sz="1250" dirty="0">
                <a:solidFill>
                  <a:srgbClr val="B7CCC3"/>
                </a:solidFill>
                <a:latin typeface="Consolas"/>
              </a:rPr>
              <a:t> </a:t>
            </a:r>
            <a:r>
              <a:rPr sz="1250" dirty="0" err="1">
                <a:solidFill>
                  <a:srgbClr val="B7CCC3"/>
                </a:solidFill>
                <a:latin typeface="Consolas"/>
              </a:rPr>
              <a:t>virtuel</a:t>
            </a:r>
            <a:r>
              <a:rPr sz="1250" dirty="0">
                <a:solidFill>
                  <a:srgbClr val="B7CCC3"/>
                </a:solidFill>
                <a:latin typeface="Consolas"/>
              </a:rPr>
              <a:t> et installation de Django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E6F2EC"/>
                </a:solidFill>
                <a:latin typeface="Consolas"/>
              </a:rPr>
              <a:t>python -m </a:t>
            </a:r>
            <a:r>
              <a:rPr sz="1250" dirty="0" err="1">
                <a:solidFill>
                  <a:srgbClr val="E6F2EC"/>
                </a:solidFill>
                <a:latin typeface="Consolas"/>
              </a:rPr>
              <a:t>venv</a:t>
            </a:r>
            <a:r>
              <a:rPr sz="1250" dirty="0">
                <a:solidFill>
                  <a:srgbClr val="E6F2EC"/>
                </a:solidFill>
                <a:latin typeface="Consolas"/>
              </a:rPr>
              <a:t> .</a:t>
            </a:r>
            <a:r>
              <a:rPr sz="1250" dirty="0" err="1">
                <a:solidFill>
                  <a:srgbClr val="E6F2EC"/>
                </a:solidFill>
                <a:latin typeface="Consolas"/>
              </a:rPr>
              <a:t>venv</a:t>
            </a:r>
            <a:r>
              <a:rPr lang="fr-FR" sz="1250" dirty="0">
                <a:solidFill>
                  <a:srgbClr val="E6F2EC"/>
                </a:solidFill>
                <a:latin typeface="Consolas"/>
              </a:rPr>
              <a:t>   si plusieurs versions python installé : </a:t>
            </a:r>
            <a:r>
              <a:rPr lang="fr-FR" sz="1400" dirty="0" err="1">
                <a:solidFill>
                  <a:schemeClr val="bg1"/>
                </a:solidFill>
              </a:rPr>
              <a:t>py</a:t>
            </a:r>
            <a:r>
              <a:rPr lang="fr-FR" sz="1400" dirty="0">
                <a:solidFill>
                  <a:schemeClr val="bg1"/>
                </a:solidFill>
              </a:rPr>
              <a:t> -3.12 -m </a:t>
            </a:r>
            <a:r>
              <a:rPr lang="fr-FR" sz="1400" dirty="0" err="1">
                <a:solidFill>
                  <a:schemeClr val="bg1"/>
                </a:solidFill>
              </a:rPr>
              <a:t>venv</a:t>
            </a:r>
            <a:r>
              <a:rPr lang="fr-FR" sz="1400" dirty="0">
                <a:solidFill>
                  <a:schemeClr val="bg1"/>
                </a:solidFill>
              </a:rPr>
              <a:t> .</a:t>
            </a:r>
            <a:r>
              <a:rPr lang="fr-FR" sz="1400" dirty="0" err="1">
                <a:solidFill>
                  <a:schemeClr val="bg1"/>
                </a:solidFill>
              </a:rPr>
              <a:t>venv</a:t>
            </a:r>
            <a:endParaRPr sz="1250" dirty="0">
              <a:solidFill>
                <a:schemeClr val="bg1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E6F2E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B7CCC3"/>
                </a:solidFill>
                <a:latin typeface="Consolas"/>
              </a:rPr>
              <a:t># Windows 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E6F2EC"/>
                </a:solidFill>
                <a:latin typeface="Consolas"/>
              </a:rPr>
              <a:t>.</a:t>
            </a:r>
            <a:r>
              <a:rPr sz="1250" dirty="0" err="1">
                <a:solidFill>
                  <a:srgbClr val="E6F2EC"/>
                </a:solidFill>
                <a:latin typeface="Consolas"/>
              </a:rPr>
              <a:t>venv</a:t>
            </a:r>
            <a:r>
              <a:rPr sz="1250" dirty="0">
                <a:solidFill>
                  <a:srgbClr val="E6F2EC"/>
                </a:solidFill>
                <a:latin typeface="Consolas"/>
              </a:rPr>
              <a:t>\Scripts\activate</a:t>
            </a:r>
            <a:endParaRPr lang="fr-FR" sz="1250" dirty="0">
              <a:solidFill>
                <a:srgbClr val="E6F2EC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fr-FR" sz="1250" dirty="0">
              <a:solidFill>
                <a:srgbClr val="E6F2EC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50" dirty="0">
                <a:solidFill>
                  <a:srgbClr val="E6F2EC"/>
                </a:solidFill>
                <a:latin typeface="Consolas"/>
              </a:rPr>
              <a:t>	&gt;</a:t>
            </a:r>
            <a:r>
              <a:rPr lang="fr-FR" sz="1250" dirty="0" err="1">
                <a:solidFill>
                  <a:srgbClr val="E6F2EC"/>
                </a:solidFill>
                <a:latin typeface="Consolas"/>
              </a:rPr>
              <a:t>bash</a:t>
            </a:r>
            <a:r>
              <a:rPr lang="fr-FR" sz="1250" dirty="0">
                <a:solidFill>
                  <a:srgbClr val="E6F2EC"/>
                </a:solidFill>
                <a:latin typeface="Consolas"/>
              </a:rPr>
              <a:t> : </a:t>
            </a:r>
            <a:r>
              <a:rPr lang="fr-FR" sz="1400" dirty="0">
                <a:solidFill>
                  <a:schemeClr val="bg1"/>
                </a:solidFill>
              </a:rPr>
              <a:t>source .</a:t>
            </a:r>
            <a:r>
              <a:rPr lang="fr-FR" sz="1400" dirty="0" err="1">
                <a:solidFill>
                  <a:schemeClr val="bg1"/>
                </a:solidFill>
              </a:rPr>
              <a:t>venv</a:t>
            </a:r>
            <a:r>
              <a:rPr lang="fr-FR" sz="1400" dirty="0">
                <a:solidFill>
                  <a:schemeClr val="bg1"/>
                </a:solidFill>
              </a:rPr>
              <a:t>/Scripts/</a:t>
            </a:r>
            <a:r>
              <a:rPr lang="fr-FR" sz="1400" dirty="0" err="1">
                <a:solidFill>
                  <a:schemeClr val="bg1"/>
                </a:solidFill>
              </a:rPr>
              <a:t>activate</a:t>
            </a:r>
            <a:endParaRPr lang="fr-FR" sz="14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250" dirty="0">
              <a:solidFill>
                <a:schemeClr val="bg1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B7CCC3"/>
                </a:solidFill>
                <a:latin typeface="Consolas"/>
              </a:rPr>
              <a:t># macOS / Linux 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E6F2EC"/>
                </a:solidFill>
                <a:latin typeface="Consolas"/>
              </a:rPr>
              <a:t>source .</a:t>
            </a:r>
            <a:r>
              <a:rPr sz="1250" dirty="0" err="1">
                <a:solidFill>
                  <a:srgbClr val="E6F2EC"/>
                </a:solidFill>
                <a:latin typeface="Consolas"/>
              </a:rPr>
              <a:t>venv</a:t>
            </a:r>
            <a:r>
              <a:rPr sz="1250" dirty="0">
                <a:solidFill>
                  <a:srgbClr val="E6F2EC"/>
                </a:solidFill>
                <a:latin typeface="Consolas"/>
              </a:rPr>
              <a:t>/bin/activate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E6F2E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E6F2EC"/>
                </a:solidFill>
                <a:latin typeface="Consolas"/>
              </a:rPr>
              <a:t>pip install --upgrade pip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E6F2EC"/>
                </a:solidFill>
                <a:latin typeface="Consolas"/>
              </a:rPr>
              <a:t>pip install Django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 err="1">
                <a:solidFill>
                  <a:srgbClr val="E6F2EC"/>
                </a:solidFill>
                <a:latin typeface="Consolas"/>
              </a:rPr>
              <a:t>django</a:t>
            </a:r>
            <a:r>
              <a:rPr sz="1250" dirty="0">
                <a:solidFill>
                  <a:srgbClr val="E6F2EC"/>
                </a:solidFill>
                <a:latin typeface="Consolas"/>
              </a:rPr>
              <a:t>-admin --version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2706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7B74"/>
                </a:solidFill>
                <a:latin typeface="Calibri"/>
              </a:rPr>
              <a:t>On crée TOUJOURS un environnement virtuel avant d'installer Django : les dépendances restent isolées projet par projet.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CODE EN ACTION  ·  BASH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92E20"/>
                </a:solidFill>
                <a:latin typeface="Trebuchet MS"/>
              </a:rPr>
              <a:t>Créer le projet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91056"/>
            <a:ext cx="11183112" cy="4526280"/>
          </a:xfrm>
          <a:prstGeom prst="roundRect">
            <a:avLst>
              <a:gd name="adj" fmla="val 6000"/>
            </a:avLst>
          </a:prstGeom>
          <a:solidFill>
            <a:srgbClr val="0B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1773936"/>
            <a:ext cx="118872" cy="118872"/>
          </a:xfrm>
          <a:prstGeom prst="ellipse">
            <a:avLst/>
          </a:prstGeom>
          <a:solidFill>
            <a:srgbClr val="D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9264" y="1773936"/>
            <a:ext cx="118872" cy="118872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88719" y="1773936"/>
            <a:ext cx="118872" cy="118872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66543"/>
            <a:ext cx="10744200" cy="3886200"/>
          </a:xfrm>
          <a:prstGeom prst="rect">
            <a:avLst/>
          </a:prstGeom>
          <a:noFill/>
        </p:spPr>
        <p:txBody>
          <a:bodyPr wrap="square" lIns="4572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 err="1">
                <a:solidFill>
                  <a:srgbClr val="E6F2EC"/>
                </a:solidFill>
                <a:latin typeface="Consolas"/>
              </a:rPr>
              <a:t>django</a:t>
            </a:r>
            <a:r>
              <a:rPr sz="1250" dirty="0">
                <a:solidFill>
                  <a:srgbClr val="E6F2EC"/>
                </a:solidFill>
                <a:latin typeface="Consolas"/>
              </a:rPr>
              <a:t>-admin </a:t>
            </a:r>
            <a:r>
              <a:rPr sz="1250" dirty="0" err="1">
                <a:solidFill>
                  <a:srgbClr val="E6F2EC"/>
                </a:solidFill>
                <a:latin typeface="Consolas"/>
              </a:rPr>
              <a:t>startproject</a:t>
            </a:r>
            <a:r>
              <a:rPr sz="1250" dirty="0">
                <a:solidFill>
                  <a:srgbClr val="E6F2EC"/>
                </a:solidFill>
                <a:latin typeface="Consolas"/>
              </a:rPr>
              <a:t> config 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E6F2EC"/>
                </a:solidFill>
                <a:latin typeface="Consolas"/>
              </a:rPr>
              <a:t>python manage.py </a:t>
            </a:r>
            <a:r>
              <a:rPr sz="1250" dirty="0" err="1">
                <a:solidFill>
                  <a:srgbClr val="E6F2EC"/>
                </a:solidFill>
                <a:latin typeface="Consolas"/>
              </a:rPr>
              <a:t>runserver</a:t>
            </a:r>
            <a:endParaRPr sz="1250" dirty="0">
              <a:solidFill>
                <a:srgbClr val="E6F2EC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B7CCC3"/>
                </a:solidFill>
                <a:latin typeface="Consolas"/>
              </a:rPr>
              <a:t># </a:t>
            </a:r>
            <a:r>
              <a:rPr sz="1250" dirty="0" err="1">
                <a:solidFill>
                  <a:srgbClr val="B7CCC3"/>
                </a:solidFill>
                <a:latin typeface="Consolas"/>
              </a:rPr>
              <a:t>Visiter</a:t>
            </a:r>
            <a:r>
              <a:rPr sz="1250" dirty="0">
                <a:solidFill>
                  <a:srgbClr val="B7CCC3"/>
                </a:solidFill>
                <a:latin typeface="Consolas"/>
              </a:rPr>
              <a:t> http://127.0.0.1:8000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2706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7B74"/>
                </a:solidFill>
                <a:latin typeface="Calibri"/>
              </a:rPr>
              <a:t>startproject crée le squelette (settings.py, urls.py, wsgi.py, asgi.py). runserver lance le serveur de développement.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CODE EN ACTION  · 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92E20"/>
                </a:solidFill>
                <a:latin typeface="Trebuchet MS"/>
              </a:rPr>
              <a:t>Une première vue minimale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91056"/>
            <a:ext cx="11183112" cy="4526280"/>
          </a:xfrm>
          <a:prstGeom prst="roundRect">
            <a:avLst>
              <a:gd name="adj" fmla="val 6000"/>
            </a:avLst>
          </a:prstGeom>
          <a:solidFill>
            <a:srgbClr val="0B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1773936"/>
            <a:ext cx="118872" cy="118872"/>
          </a:xfrm>
          <a:prstGeom prst="ellipse">
            <a:avLst/>
          </a:prstGeom>
          <a:solidFill>
            <a:srgbClr val="D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9264" y="1773936"/>
            <a:ext cx="118872" cy="118872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88719" y="1773936"/>
            <a:ext cx="118872" cy="118872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66543"/>
            <a:ext cx="10744200" cy="3886200"/>
          </a:xfrm>
          <a:prstGeom prst="rect">
            <a:avLst/>
          </a:prstGeom>
          <a:noFill/>
        </p:spPr>
        <p:txBody>
          <a:bodyPr wrap="square" lIns="4572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B7CCC3"/>
                </a:solidFill>
                <a:latin typeface="Consolas"/>
              </a:rPr>
              <a:t># config/urls.py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E6F2EC"/>
                </a:solidFill>
                <a:latin typeface="Consolas"/>
              </a:rPr>
              <a:t>from </a:t>
            </a:r>
            <a:r>
              <a:rPr sz="1250" dirty="0" err="1">
                <a:solidFill>
                  <a:srgbClr val="E6F2EC"/>
                </a:solidFill>
                <a:latin typeface="Consolas"/>
              </a:rPr>
              <a:t>django.http</a:t>
            </a:r>
            <a:r>
              <a:rPr sz="1250" dirty="0">
                <a:solidFill>
                  <a:srgbClr val="E6F2EC"/>
                </a:solidFill>
                <a:latin typeface="Consolas"/>
              </a:rPr>
              <a:t> import </a:t>
            </a:r>
            <a:r>
              <a:rPr sz="1250" dirty="0" err="1">
                <a:solidFill>
                  <a:srgbClr val="E6F2EC"/>
                </a:solidFill>
                <a:latin typeface="Consolas"/>
              </a:rPr>
              <a:t>HttpResponse</a:t>
            </a:r>
            <a:endParaRPr sz="1250" dirty="0">
              <a:solidFill>
                <a:srgbClr val="E6F2EC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E6F2EC"/>
                </a:solidFill>
                <a:latin typeface="Consolas"/>
              </a:rPr>
              <a:t>from </a:t>
            </a:r>
            <a:r>
              <a:rPr sz="1250" dirty="0" err="1">
                <a:solidFill>
                  <a:srgbClr val="E6F2EC"/>
                </a:solidFill>
                <a:latin typeface="Consolas"/>
              </a:rPr>
              <a:t>django.urls</a:t>
            </a:r>
            <a:r>
              <a:rPr sz="1250" dirty="0">
                <a:solidFill>
                  <a:srgbClr val="E6F2EC"/>
                </a:solidFill>
                <a:latin typeface="Consolas"/>
              </a:rPr>
              <a:t> import path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E6F2E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E6F2EC"/>
                </a:solidFill>
                <a:latin typeface="Consolas"/>
              </a:rPr>
              <a:t>def home(request):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E6F2EC"/>
                </a:solidFill>
                <a:latin typeface="Consolas"/>
              </a:rPr>
              <a:t>    return </a:t>
            </a:r>
            <a:r>
              <a:rPr sz="1250" dirty="0" err="1">
                <a:solidFill>
                  <a:srgbClr val="E6F2EC"/>
                </a:solidFill>
                <a:latin typeface="Consolas"/>
              </a:rPr>
              <a:t>HttpResponse</a:t>
            </a:r>
            <a:r>
              <a:rPr sz="1250" dirty="0">
                <a:solidFill>
                  <a:srgbClr val="E6F2EC"/>
                </a:solidFill>
                <a:latin typeface="Consolas"/>
              </a:rPr>
              <a:t>("Bienvenue sur DataViz Explorer")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E6F2E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 err="1">
                <a:solidFill>
                  <a:srgbClr val="E6F2EC"/>
                </a:solidFill>
                <a:latin typeface="Consolas"/>
              </a:rPr>
              <a:t>urlpatterns</a:t>
            </a:r>
            <a:r>
              <a:rPr sz="1250" dirty="0">
                <a:solidFill>
                  <a:srgbClr val="E6F2EC"/>
                </a:solidFill>
                <a:latin typeface="Consolas"/>
              </a:rPr>
              <a:t> = [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E6F2EC"/>
                </a:solidFill>
                <a:latin typeface="Consolas"/>
              </a:rPr>
              <a:t>    path("", home, name="home"),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E6F2EC"/>
                </a:solidFill>
                <a:latin typeface="Consolas"/>
              </a:rPr>
              <a:t>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2706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7B74"/>
                </a:solidFill>
                <a:latin typeface="Calibri"/>
              </a:rPr>
              <a:t>Une vue reçoit un HttpRequest et renvoie un HttpResponse. path() mappe l'URL racine sur la vue home.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CODE EN ACTION  ·  BASH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92E20"/>
                </a:solidFill>
                <a:latin typeface="Trebuchet MS"/>
              </a:rPr>
              <a:t>Initialiser Git dès la première ligne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91056"/>
            <a:ext cx="11183112" cy="4526280"/>
          </a:xfrm>
          <a:prstGeom prst="roundRect">
            <a:avLst>
              <a:gd name="adj" fmla="val 6000"/>
            </a:avLst>
          </a:prstGeom>
          <a:solidFill>
            <a:srgbClr val="0B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1773936"/>
            <a:ext cx="118872" cy="118872"/>
          </a:xfrm>
          <a:prstGeom prst="ellipse">
            <a:avLst/>
          </a:prstGeom>
          <a:solidFill>
            <a:srgbClr val="D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9264" y="1773936"/>
            <a:ext cx="118872" cy="118872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88719" y="1773936"/>
            <a:ext cx="118872" cy="118872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66543"/>
            <a:ext cx="10744200" cy="3886200"/>
          </a:xfrm>
          <a:prstGeom prst="rect">
            <a:avLst/>
          </a:prstGeom>
          <a:noFill/>
        </p:spPr>
        <p:txBody>
          <a:bodyPr wrap="square" lIns="4572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git init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echo "__pycache__/" &gt; .gitignore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echo "*.pyc"        &gt;&gt; .gitignore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echo ".venv/"       &gt;&gt; .gitignore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echo "db.sqlite3"   &gt;&gt; .gitignore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git add 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git commit -m "chore: bootstrap Django project"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2706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7B74"/>
                </a:solidFill>
                <a:latin typeface="Calibri"/>
              </a:rPr>
              <a:t>Git dès le départ, avec un .gitignore solide. On ne commite jamais .venv/, db.sqlite3 ni la SECRET_KEY.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CODE EN ACTION  · 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92E20"/>
                </a:solidFill>
                <a:latin typeface="Trebuchet MS"/>
              </a:rPr>
              <a:t>Le squelette généré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91056"/>
            <a:ext cx="11183112" cy="4526280"/>
          </a:xfrm>
          <a:prstGeom prst="roundRect">
            <a:avLst>
              <a:gd name="adj" fmla="val 6000"/>
            </a:avLst>
          </a:prstGeom>
          <a:solidFill>
            <a:srgbClr val="0B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1773936"/>
            <a:ext cx="118872" cy="118872"/>
          </a:xfrm>
          <a:prstGeom prst="ellipse">
            <a:avLst/>
          </a:prstGeom>
          <a:solidFill>
            <a:srgbClr val="D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9264" y="1773936"/>
            <a:ext cx="118872" cy="118872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88719" y="1773936"/>
            <a:ext cx="118872" cy="118872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66543"/>
            <a:ext cx="10744200" cy="3886200"/>
          </a:xfrm>
          <a:prstGeom prst="rect">
            <a:avLst/>
          </a:prstGeom>
          <a:noFill/>
        </p:spPr>
        <p:txBody>
          <a:bodyPr wrap="square" lIns="4572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dataviz_explorer/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├── manage.py            # point d'entrée des commandes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└── config/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    ├── __init__.py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    ├── settings.py      # configuration du projet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    ├── urls.py          # routage racine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    ├── wsgi.py          # serveur synchrone (prod)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    └── asgi.py          # serveur asynchrone (Channels)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2706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7B74"/>
                </a:solidFill>
                <a:latin typeface="Calibri"/>
              </a:rPr>
              <a:t>manage.py est votre couteau suisse : runserver, migrate, createsuperuser, shell, test…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CODE EN ACTION  ·  BASH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92E20"/>
                </a:solidFill>
                <a:latin typeface="Trebuchet MS"/>
              </a:rPr>
              <a:t>Les commandes manage.py à connaître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91056"/>
            <a:ext cx="11183112" cy="4526280"/>
          </a:xfrm>
          <a:prstGeom prst="roundRect">
            <a:avLst>
              <a:gd name="adj" fmla="val 6000"/>
            </a:avLst>
          </a:prstGeom>
          <a:solidFill>
            <a:srgbClr val="0B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1773936"/>
            <a:ext cx="118872" cy="118872"/>
          </a:xfrm>
          <a:prstGeom prst="ellipse">
            <a:avLst/>
          </a:prstGeom>
          <a:solidFill>
            <a:srgbClr val="D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9264" y="1773936"/>
            <a:ext cx="118872" cy="118872"/>
          </a:xfrm>
          <a:prstGeom prst="ellipse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88719" y="1773936"/>
            <a:ext cx="118872" cy="118872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66543"/>
            <a:ext cx="10744200" cy="3886200"/>
          </a:xfrm>
          <a:prstGeom prst="rect">
            <a:avLst/>
          </a:prstGeom>
          <a:noFill/>
        </p:spPr>
        <p:txBody>
          <a:bodyPr wrap="square" lIns="4572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python manage.py runserver        # lance le serveur de dev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python manage.py migrate          # applique les migrations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python manage.py makemigrations   # génère les migrations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python manage.py createsuperuser  # crée un admin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python manage.py shell            # shell Python avec Django chargé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E6F2EC"/>
                </a:solidFill>
                <a:latin typeface="Consolas"/>
              </a:rPr>
              <a:t>python manage.py test             # lance la suite de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2706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7B74"/>
                </a:solidFill>
                <a:latin typeface="Calibri"/>
              </a:rPr>
              <a:t>Toute l'administration du projet passe par manage.py. On y reviendra session après session.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B7CCC3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B7CCC3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B7CCC3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B7CCC3"/>
                </a:solidFill>
                <a:latin typeface="Calibri"/>
              </a:rPr>
              <a:t>18</a:t>
            </a:r>
          </a:p>
        </p:txBody>
      </p:sp>
      <p:sp>
        <p:nvSpPr>
          <p:cNvPr id="4" name="Oval 3"/>
          <p:cNvSpPr/>
          <p:nvPr/>
        </p:nvSpPr>
        <p:spPr>
          <a:xfrm>
            <a:off x="-1371600" y="4206240"/>
            <a:ext cx="3840480" cy="3840480"/>
          </a:xfrm>
          <a:prstGeom prst="ellipse">
            <a:avLst/>
          </a:prstGeom>
          <a:solidFill>
            <a:srgbClr val="0F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-1463040"/>
            <a:ext cx="3657600" cy="3657600"/>
          </a:xfrm>
          <a:prstGeom prst="ellipse">
            <a:avLst/>
          </a:prstGeom>
          <a:solidFill>
            <a:srgbClr val="0F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3774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0" b="1" i="0">
                <a:solidFill>
                  <a:srgbClr val="44B78B"/>
                </a:solidFill>
                <a:latin typeface="Trebuchet M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8778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Trebuchet MS"/>
              </a:rPr>
              <a:t>Exercices &amp; bonnes pratiques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4023360"/>
            <a:ext cx="8595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B7CCC3"/>
                </a:solidFill>
                <a:latin typeface="Calibri"/>
              </a:rPr>
              <a:t>On met les mains dans le code, puis on consolide.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EXERCICE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92E20"/>
                </a:solidFill>
                <a:latin typeface="Trebuchet MS"/>
              </a:rPr>
              <a:t>Exercice 1 — Mettre en place l'environnement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532120" cy="4434840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8B66"/>
                </a:solidFill>
                <a:latin typeface="Trebuchet MS"/>
              </a:rPr>
              <a:t>CONSIGNE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304288"/>
            <a:ext cx="274320" cy="27432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8600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20"/>
                </a:solidFill>
                <a:latin typeface="Calibri"/>
              </a:rPr>
              <a:t>Crée un dossier dataviz_explorer/ sur ton poste.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54096"/>
            <a:ext cx="274320" cy="27432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03580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20"/>
                </a:solidFill>
                <a:latin typeface="Calibri"/>
              </a:rPr>
              <a:t>Active un environnement virtuel et installe Django.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803904"/>
            <a:ext cx="274320" cy="27432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785616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20"/>
                </a:solidFill>
                <a:latin typeface="Calibri"/>
              </a:rPr>
              <a:t>Démarre le projet, lance le serveur, vérifie la page par défaut.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553712"/>
            <a:ext cx="274320" cy="27432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535424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20"/>
                </a:solidFill>
                <a:latin typeface="Calibri"/>
              </a:rPr>
              <a:t>Initialise Git et fais un premier commit « bootstrap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5422392" cy="4434840"/>
          </a:xfrm>
          <a:prstGeom prst="roundRect">
            <a:avLst>
              <a:gd name="adj" fmla="val 6000"/>
            </a:avLst>
          </a:prstGeom>
          <a:solidFill>
            <a:srgbClr val="092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783080"/>
            <a:ext cx="493776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dirty="0">
                <a:solidFill>
                  <a:srgbClr val="44B78B"/>
                </a:solidFill>
                <a:latin typeface="Trebuchet MS"/>
              </a:rPr>
              <a:t>PISTE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24028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E6F2EC"/>
                </a:solidFill>
                <a:latin typeface="Consolas"/>
              </a:rPr>
              <a:t>mkdir dataviz_explorer &amp;&amp; cd dataviz_explorer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E6F2EC"/>
                </a:solidFill>
                <a:latin typeface="Consolas"/>
              </a:rPr>
              <a:t>python -m venv .venv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B7CCC3"/>
                </a:solidFill>
                <a:latin typeface="Calibri"/>
              </a:rPr>
              <a:t>source .venv/bin/activate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B7CCC3"/>
                </a:solidFill>
                <a:latin typeface="Calibri"/>
              </a:rPr>
              <a:t>pip install Django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B7CCC3"/>
                </a:solidFill>
                <a:latin typeface="Calibri"/>
              </a:rPr>
              <a:t>django-admin startproject config 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E6F2EC"/>
                </a:solidFill>
                <a:latin typeface="Consolas"/>
              </a:rPr>
              <a:t>python manage.py runserver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E6F2EC"/>
                </a:solidFill>
                <a:latin typeface="Consolas"/>
              </a:rPr>
              <a:t># autre terminal :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E6F2EC"/>
                </a:solidFill>
                <a:latin typeface="Consolas"/>
              </a:rPr>
              <a:t>git init &amp;&amp; git add 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E6F2EC"/>
                </a:solidFill>
                <a:latin typeface="Consolas"/>
              </a:rPr>
              <a:t>git commit -m "bootstrap"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EXERCICE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92E20"/>
                </a:solidFill>
                <a:latin typeface="Trebuchet MS"/>
              </a:rPr>
              <a:t>Exercice 2 — Ta première vue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532120" cy="4434840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8B66"/>
                </a:solidFill>
                <a:latin typeface="Trebuchet MS"/>
              </a:rPr>
              <a:t>CONSIGNE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304288"/>
            <a:ext cx="274320" cy="27432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8600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20"/>
                </a:solidFill>
                <a:latin typeface="Calibri"/>
              </a:rPr>
              <a:t>Crée une vue home qui renvoie « Bienvenue sur DataViz Explorer ».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54096"/>
            <a:ext cx="274320" cy="27432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03580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20"/>
                </a:solidFill>
                <a:latin typeface="Calibri"/>
              </a:rPr>
              <a:t>Mappe-la sur l'URL / via urls.py.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511296"/>
            <a:ext cx="274320" cy="27432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49300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20"/>
                </a:solidFill>
                <a:latin typeface="Calibri"/>
              </a:rPr>
              <a:t>Vérifie le rendu dans le navigateur.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5422392" cy="4434840"/>
          </a:xfrm>
          <a:prstGeom prst="roundRect">
            <a:avLst>
              <a:gd name="adj" fmla="val 6000"/>
            </a:avLst>
          </a:prstGeom>
          <a:solidFill>
            <a:srgbClr val="092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493776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dirty="0">
                <a:solidFill>
                  <a:srgbClr val="44B78B"/>
                </a:solidFill>
                <a:latin typeface="Trebuchet MS"/>
              </a:rPr>
              <a:t>PISTE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24028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E6F2EC"/>
                </a:solidFill>
                <a:latin typeface="Consolas"/>
              </a:rPr>
              <a:t># config/urls.py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E6F2EC"/>
                </a:solidFill>
                <a:latin typeface="Consolas"/>
              </a:rPr>
              <a:t>from django.http import HttpResponse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E6F2EC"/>
                </a:solidFill>
                <a:latin typeface="Consolas"/>
              </a:rPr>
              <a:t>from django.urls import path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B7CCC3"/>
                </a:solidFill>
                <a:latin typeface="Calibri"/>
              </a:rPr>
              <a:t> 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E6F2EC"/>
                </a:solidFill>
                <a:latin typeface="Consolas"/>
              </a:rPr>
              <a:t>def home(request):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E6F2EC"/>
                </a:solidFill>
                <a:latin typeface="Consolas"/>
              </a:rPr>
              <a:t>    return HttpResponse(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B7CCC3"/>
                </a:solidFill>
                <a:latin typeface="Calibri"/>
              </a:rPr>
              <a:t>        "Bienvenue sur DataViz Explorer")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B7CCC3"/>
                </a:solidFill>
                <a:latin typeface="Calibri"/>
              </a:rPr>
              <a:t> 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B7CCC3"/>
                </a:solidFill>
                <a:latin typeface="Calibri"/>
              </a:rPr>
              <a:t>urlpatterns = [path("", home, name="home")]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EXERCICE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92E20"/>
                </a:solidFill>
                <a:latin typeface="Trebuchet MS"/>
              </a:rPr>
              <a:t>Exercice 3 — Question ouverte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532120" cy="4434840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8B66"/>
                </a:solidFill>
                <a:latin typeface="Trebuchet MS"/>
              </a:rPr>
              <a:t>CONSIGNE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304288"/>
            <a:ext cx="274320" cy="27432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28600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20"/>
                </a:solidFill>
                <a:latin typeface="Calibri"/>
              </a:rPr>
              <a:t>Quelles sont les responsabilités du back-end vs du front-end ?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54096"/>
            <a:ext cx="274320" cy="27432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03580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20"/>
                </a:solidFill>
                <a:latin typeface="Calibri"/>
              </a:rPr>
              <a:t>Donne deux avantages d'un back-end Django séparé d'un front React.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C5FFC-8708-916E-2548-4875712B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630FD6-11F6-98BD-5A04-1A22B408DF54}"/>
              </a:ext>
            </a:extLst>
          </p:cNvPr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731F3-779F-DE2C-D233-3489ACAE2C88}"/>
              </a:ext>
            </a:extLst>
          </p:cNvPr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E12262-FF45-A9D7-B6E7-B3108D951190}"/>
              </a:ext>
            </a:extLst>
          </p:cNvPr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EXERCICE GUIDE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D52A45-72E5-89EC-A608-87B45C0AAA5C}"/>
              </a:ext>
            </a:extLst>
          </p:cNvPr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92E20"/>
                </a:solidFill>
                <a:latin typeface="Trebuchet MS"/>
              </a:rPr>
              <a:t>Exercice 3 — Question ouverte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400DBF1-A7EE-7E35-7BAE-7B9622D4DAD4}"/>
              </a:ext>
            </a:extLst>
          </p:cNvPr>
          <p:cNvSpPr/>
          <p:nvPr/>
        </p:nvSpPr>
        <p:spPr>
          <a:xfrm>
            <a:off x="502920" y="1600200"/>
            <a:ext cx="5532120" cy="4434840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B07A5-BA26-1C2C-FA75-A369366B4276}"/>
              </a:ext>
            </a:extLst>
          </p:cNvPr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8B66"/>
                </a:solidFill>
                <a:latin typeface="Trebuchet MS"/>
              </a:rPr>
              <a:t>CONSIGNE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5438B73-AD8E-C89E-C9C6-47D10ED18C74}"/>
              </a:ext>
            </a:extLst>
          </p:cNvPr>
          <p:cNvSpPr/>
          <p:nvPr/>
        </p:nvSpPr>
        <p:spPr>
          <a:xfrm>
            <a:off x="777240" y="2304288"/>
            <a:ext cx="274320" cy="27432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3F74A8-4C8D-360F-494D-0A1D784CEBE5}"/>
              </a:ext>
            </a:extLst>
          </p:cNvPr>
          <p:cNvSpPr txBox="1"/>
          <p:nvPr/>
        </p:nvSpPr>
        <p:spPr>
          <a:xfrm>
            <a:off x="1170432" y="228600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20"/>
                </a:solidFill>
                <a:latin typeface="Calibri"/>
              </a:rPr>
              <a:t>Quelles sont les responsabilités du back-end vs du front-end ?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93551C-0BBC-80BD-F58A-C7D996257D81}"/>
              </a:ext>
            </a:extLst>
          </p:cNvPr>
          <p:cNvSpPr/>
          <p:nvPr/>
        </p:nvSpPr>
        <p:spPr>
          <a:xfrm>
            <a:off x="777240" y="3054096"/>
            <a:ext cx="274320" cy="27432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6EB2C8-55EE-2F90-0422-815E3CFF8092}"/>
              </a:ext>
            </a:extLst>
          </p:cNvPr>
          <p:cNvSpPr txBox="1"/>
          <p:nvPr/>
        </p:nvSpPr>
        <p:spPr>
          <a:xfrm>
            <a:off x="1170432" y="303580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420"/>
                </a:solidFill>
                <a:latin typeface="Calibri"/>
              </a:rPr>
              <a:t>Donne deux avantages d'un back-end Django séparé d'un front React.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0850251-235A-D834-9D17-86BB95580ED1}"/>
              </a:ext>
            </a:extLst>
          </p:cNvPr>
          <p:cNvSpPr/>
          <p:nvPr/>
        </p:nvSpPr>
        <p:spPr>
          <a:xfrm>
            <a:off x="6263640" y="1600200"/>
            <a:ext cx="5422392" cy="4434840"/>
          </a:xfrm>
          <a:prstGeom prst="roundRect">
            <a:avLst>
              <a:gd name="adj" fmla="val 6000"/>
            </a:avLst>
          </a:prstGeom>
          <a:solidFill>
            <a:srgbClr val="092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BE1EB-F137-641D-FB4B-C5BB17A6159C}"/>
              </a:ext>
            </a:extLst>
          </p:cNvPr>
          <p:cNvSpPr txBox="1"/>
          <p:nvPr/>
        </p:nvSpPr>
        <p:spPr>
          <a:xfrm>
            <a:off x="6537960" y="1783080"/>
            <a:ext cx="493776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dirty="0">
                <a:solidFill>
                  <a:srgbClr val="44B78B"/>
                </a:solidFill>
                <a:latin typeface="Trebuchet MS"/>
              </a:rPr>
              <a:t> PISTE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8B359B-EC3A-2183-42E9-F3FE619B16CB}"/>
              </a:ext>
            </a:extLst>
          </p:cNvPr>
          <p:cNvSpPr txBox="1"/>
          <p:nvPr/>
        </p:nvSpPr>
        <p:spPr>
          <a:xfrm>
            <a:off x="6519672" y="224028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B7CCC3"/>
                </a:solidFill>
                <a:latin typeface="Calibri"/>
              </a:rPr>
              <a:t>Le back-end gère persistance, logique métier, sécurité et API ; le front gère l'UX.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B7CCC3"/>
                </a:solidFill>
                <a:latin typeface="Calibri"/>
              </a:rPr>
              <a:t> 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00"/>
              </a:spcAft>
            </a:pPr>
            <a:r>
              <a:rPr sz="1100">
                <a:solidFill>
                  <a:srgbClr val="B7CCC3"/>
                </a:solidFill>
                <a:latin typeface="Calibri"/>
              </a:rPr>
              <a:t>Séparer permet : (1) servir plusieurs clients (web, mobile, partenaires) avec une seule API ; (2) déployer et faire évoluer les deux indépendamment.</a:t>
            </a:r>
          </a:p>
        </p:txBody>
      </p:sp>
    </p:spTree>
    <p:extLst>
      <p:ext uri="{BB962C8B-B14F-4D97-AF65-F5344CB8AC3E}">
        <p14:creationId xmlns:p14="http://schemas.microsoft.com/office/powerpoint/2010/main" val="42096065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VIGILANCE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1155680" cy="45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 dirty="0" err="1">
                <a:solidFill>
                  <a:srgbClr val="092E20"/>
                </a:solidFill>
                <a:latin typeface="Trebuchet MS"/>
              </a:rPr>
              <a:t>Pièges</a:t>
            </a:r>
            <a:r>
              <a:rPr sz="3000" b="1" i="0" dirty="0">
                <a:solidFill>
                  <a:srgbClr val="092E20"/>
                </a:solidFill>
                <a:latin typeface="Trebuchet MS"/>
              </a:rPr>
              <a:t> </a:t>
            </a:r>
            <a:r>
              <a:rPr lang="fr-FR" sz="3000" b="1" dirty="0">
                <a:solidFill>
                  <a:srgbClr val="092E20"/>
                </a:solidFill>
                <a:latin typeface="Trebuchet MS"/>
              </a:rPr>
              <a:t>à éviter</a:t>
            </a:r>
            <a:endParaRPr sz="3000" b="1" i="0" dirty="0">
              <a:solidFill>
                <a:srgbClr val="092E20"/>
              </a:solidFill>
              <a:latin typeface="Trebuchet M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11183112" cy="868680"/>
          </a:xfrm>
          <a:prstGeom prst="roundRect">
            <a:avLst>
              <a:gd name="adj" fmla="val 6000"/>
            </a:avLst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2400" b="1">
                <a:solidFill>
                  <a:srgbClr val="E8A83A"/>
                </a:solidFill>
                <a:latin typeface="Trebuchet MS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37360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92E20"/>
                </a:solidFill>
                <a:latin typeface="Trebuchet MS"/>
              </a:rPr>
              <a:t>Ne jamais committer secrets ni environnement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35808"/>
            <a:ext cx="146304" cy="146304"/>
          </a:xfrm>
          <a:prstGeom prst="rect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420"/>
                </a:solidFill>
                <a:latin typeface="Calibri"/>
              </a:rPr>
              <a:t>N'ajoute jamais .venv/ ni db.sqlite3 dans Git : ce sont des artefacts locaux.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38727"/>
            <a:ext cx="146304" cy="146304"/>
          </a:xfrm>
          <a:prstGeom prst="rect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420"/>
                </a:solidFill>
                <a:latin typeface="Calibri"/>
              </a:rPr>
              <a:t>SECRET_KEY ne doit jamais finir sur GitHub (on la sortira de settings.py en session 2).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41648"/>
            <a:ext cx="146304" cy="146304"/>
          </a:xfrm>
          <a:prstGeom prst="rect">
            <a:avLst/>
          </a:prstGeom>
          <a:solidFill>
            <a:srgbClr val="E8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977639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420"/>
                </a:solidFill>
                <a:latin typeface="Calibri"/>
              </a:rPr>
              <a:t>Oublier d'activer le venv = installer Django dans le Python système : à éviter.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BONNES PRATIQUES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92E20"/>
                </a:solidFill>
                <a:latin typeface="Trebuchet MS"/>
              </a:rPr>
              <a:t>Les réflexes dès la session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544824" cy="4023360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3544824" cy="109728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2066544"/>
            <a:ext cx="3069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92E20"/>
                </a:solidFill>
                <a:latin typeface="Trebuchet MS"/>
              </a:rPr>
              <a:t>Venv systématique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633472"/>
            <a:ext cx="3069336" cy="306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420"/>
                </a:solidFill>
                <a:latin typeface="Calibri"/>
              </a:rPr>
              <a:t>Un environnement virtuel par projet, activé avant toute commande pip.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1828800"/>
            <a:ext cx="3544824" cy="4023360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22064" y="1828800"/>
            <a:ext cx="3544824" cy="109728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9808" y="2066544"/>
            <a:ext cx="3069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92E20"/>
                </a:solidFill>
                <a:latin typeface="Trebuchet MS"/>
              </a:rPr>
              <a:t>Git immédiat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808" y="2633472"/>
            <a:ext cx="3069336" cy="306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420"/>
                </a:solidFill>
                <a:latin typeface="Calibri"/>
              </a:rPr>
              <a:t>On versionne dès la première ligne, avec des messages de commit clairs.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1208" y="1828800"/>
            <a:ext cx="3544824" cy="4023360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41208" y="1828800"/>
            <a:ext cx="3544824" cy="109728"/>
          </a:xfrm>
          <a:prstGeom prst="rect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8952" y="2066544"/>
            <a:ext cx="30693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92E20"/>
                </a:solidFill>
                <a:latin typeface="Trebuchet MS"/>
              </a:rPr>
              <a:t>.gitignore solide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8952" y="2633472"/>
            <a:ext cx="3069336" cy="306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420"/>
                </a:solidFill>
                <a:latin typeface="Calibri"/>
              </a:rPr>
              <a:t>Exclure caches, venv, base SQLite et fichiers secrets dès le départ.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LIVRABLE DE LA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92E20"/>
                </a:solidFill>
                <a:latin typeface="Trebuchet MS"/>
              </a:rPr>
              <a:t>Checklist de fin de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À cocher avant de clôturer : votre projet doit présenter ces éléments fonctionnels.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2688336"/>
            <a:ext cx="292608" cy="292608"/>
          </a:xfrm>
          <a:prstGeom prst="rect">
            <a:avLst/>
          </a:prstGeom>
          <a:solidFill>
            <a:srgbClr val="ECF3F0"/>
          </a:solidFill>
          <a:ln w="19050">
            <a:solidFill>
              <a:srgbClr val="44B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 dirty="0">
                <a:solidFill>
                  <a:srgbClr val="44B78B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dirty="0">
                <a:solidFill>
                  <a:srgbClr val="1A2420"/>
                </a:solidFill>
                <a:latin typeface="Calibri"/>
              </a:rPr>
              <a:t>Environnement </a:t>
            </a:r>
            <a:r>
              <a:rPr sz="1450" b="0" i="0" dirty="0" err="1">
                <a:solidFill>
                  <a:srgbClr val="1A2420"/>
                </a:solidFill>
                <a:latin typeface="Calibri"/>
              </a:rPr>
              <a:t>virtuel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A2420"/>
                </a:solidFill>
                <a:latin typeface="Calibri"/>
              </a:rPr>
              <a:t>isolé</a:t>
            </a:r>
            <a:endParaRPr sz="1450" b="0" i="0" dirty="0">
              <a:solidFill>
                <a:srgbClr val="1A2420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5216" y="3346704"/>
            <a:ext cx="292608" cy="292608"/>
          </a:xfrm>
          <a:prstGeom prst="rect">
            <a:avLst/>
          </a:prstGeom>
          <a:solidFill>
            <a:srgbClr val="ECF3F0"/>
          </a:solidFill>
          <a:ln w="19050">
            <a:solidFill>
              <a:srgbClr val="44B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 dirty="0">
                <a:solidFill>
                  <a:srgbClr val="44B78B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27248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dirty="0" err="1">
                <a:solidFill>
                  <a:srgbClr val="1A2420"/>
                </a:solidFill>
                <a:latin typeface="Calibri"/>
              </a:rPr>
              <a:t>Squelette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 de </a:t>
            </a:r>
            <a:r>
              <a:rPr sz="1450" b="0" i="0" dirty="0" err="1">
                <a:solidFill>
                  <a:srgbClr val="1A2420"/>
                </a:solidFill>
                <a:latin typeface="Calibri"/>
              </a:rPr>
              <a:t>projet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 Django (config/)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" y="4005071"/>
            <a:ext cx="292608" cy="292608"/>
          </a:xfrm>
          <a:prstGeom prst="rect">
            <a:avLst/>
          </a:prstGeom>
          <a:solidFill>
            <a:srgbClr val="ECF3F0"/>
          </a:solidFill>
          <a:ln w="19050">
            <a:solidFill>
              <a:srgbClr val="44B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44B78B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85615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 dirty="0">
                <a:solidFill>
                  <a:srgbClr val="1A2420"/>
                </a:solidFill>
                <a:latin typeface="Calibri"/>
              </a:rPr>
              <a:t>Première </a:t>
            </a:r>
            <a:r>
              <a:rPr sz="1450" b="0" i="0" dirty="0" err="1">
                <a:solidFill>
                  <a:srgbClr val="1A2420"/>
                </a:solidFill>
                <a:latin typeface="Calibri"/>
              </a:rPr>
              <a:t>vue</a:t>
            </a:r>
            <a:r>
              <a:rPr sz="1450" b="0" i="0" dirty="0">
                <a:solidFill>
                  <a:srgbClr val="1A2420"/>
                </a:solidFill>
                <a:latin typeface="Calibri"/>
              </a:rPr>
              <a:t> + page </a:t>
            </a:r>
            <a:r>
              <a:rPr sz="1450" b="0" i="0" dirty="0" err="1">
                <a:solidFill>
                  <a:srgbClr val="1A2420"/>
                </a:solidFill>
                <a:latin typeface="Calibri"/>
              </a:rPr>
              <a:t>d'accueil</a:t>
            </a:r>
            <a:endParaRPr sz="1450" b="0" i="0" dirty="0">
              <a:solidFill>
                <a:srgbClr val="1A2420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85216" y="4663439"/>
            <a:ext cx="292608" cy="292608"/>
          </a:xfrm>
          <a:prstGeom prst="rect">
            <a:avLst/>
          </a:prstGeom>
          <a:solidFill>
            <a:srgbClr val="ECF3F0"/>
          </a:solidFill>
          <a:ln w="19050">
            <a:solidFill>
              <a:srgbClr val="44B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44B78B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43983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Dépôt Git + .gitignore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5321807"/>
            <a:ext cx="292608" cy="292608"/>
          </a:xfrm>
          <a:prstGeom prst="rect">
            <a:avLst/>
          </a:prstGeom>
          <a:solidFill>
            <a:srgbClr val="ECF3F0"/>
          </a:solidFill>
          <a:ln w="19050">
            <a:solidFill>
              <a:srgbClr val="44B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300" b="1">
                <a:solidFill>
                  <a:srgbClr val="44B78B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02351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420"/>
                </a:solidFill>
                <a:latin typeface="Calibri"/>
              </a:rPr>
              <a:t>Code poussé sur le dépôt Git partagé.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B7CCC3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B7CCC3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B7CCC3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B7CCC3"/>
                </a:solidFill>
                <a:latin typeface="Calibri"/>
              </a:rPr>
              <a:t>25</a:t>
            </a:r>
          </a:p>
        </p:txBody>
      </p:sp>
      <p:sp>
        <p:nvSpPr>
          <p:cNvPr id="4" name="Oval 3"/>
          <p:cNvSpPr/>
          <p:nvPr/>
        </p:nvSpPr>
        <p:spPr>
          <a:xfrm>
            <a:off x="10424160" y="4480560"/>
            <a:ext cx="3291840" cy="3291840"/>
          </a:xfrm>
          <a:prstGeom prst="ellipse">
            <a:avLst/>
          </a:prstGeom>
          <a:solidFill>
            <a:srgbClr val="0F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À RETENIR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rebuchet MS"/>
              </a:rPr>
              <a:t>L'essentiel de la session</a:t>
            </a:r>
          </a:p>
        </p:txBody>
      </p:sp>
      <p:sp>
        <p:nvSpPr>
          <p:cNvPr id="7" name="Oval 6"/>
          <p:cNvSpPr/>
          <p:nvPr/>
        </p:nvSpPr>
        <p:spPr>
          <a:xfrm>
            <a:off x="585216" y="2112264"/>
            <a:ext cx="365760" cy="36576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500" b="1">
                <a:solidFill>
                  <a:srgbClr val="092E20"/>
                </a:solidFill>
                <a:latin typeface="Trebuchet M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Django suit le pattern MVT : urls → view → (model) → template → réponse.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2889504"/>
            <a:ext cx="365760" cy="36576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500" b="1">
                <a:solidFill>
                  <a:srgbClr val="092E20"/>
                </a:solidFill>
                <a:latin typeface="Trebuchet M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On démarre toujours dans un environnement virtuel pour isoler les dépendances.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3694176"/>
            <a:ext cx="365760" cy="36576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500" b="1">
                <a:solidFill>
                  <a:srgbClr val="092E20"/>
                </a:solidFill>
                <a:latin typeface="Trebuchet M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02152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django-admin startproject crée le squelette, python manage.py runserver le lance.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" y="4498848"/>
            <a:ext cx="365760" cy="365760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500" b="1">
                <a:solidFill>
                  <a:srgbClr val="092E20"/>
                </a:solidFill>
                <a:latin typeface="Trebuchet M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06824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Git dès la première ligne de code, avec un .gitignore solide.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B7CCC3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B7CCC3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B7CCC3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B7CCC3"/>
                </a:solidFill>
                <a:latin typeface="Calibri"/>
              </a:rPr>
              <a:t>26</a:t>
            </a:r>
          </a:p>
        </p:txBody>
      </p:sp>
      <p:sp>
        <p:nvSpPr>
          <p:cNvPr id="4" name="Oval 3"/>
          <p:cNvSpPr/>
          <p:nvPr/>
        </p:nvSpPr>
        <p:spPr>
          <a:xfrm>
            <a:off x="-1280160" y="4389120"/>
            <a:ext cx="3291840" cy="3291840"/>
          </a:xfrm>
          <a:prstGeom prst="ellipse">
            <a:avLst/>
          </a:prstGeom>
          <a:solidFill>
            <a:srgbClr val="0F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QUIZ ÉCLAIR (FORMATIF)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rebuchet MS"/>
              </a:rPr>
              <a:t>Vérifiez vos acquis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0F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93391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Q1.  Que signifie le T de MVT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23159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44B78B"/>
                </a:solidFill>
                <a:latin typeface="Calibri"/>
              </a:rPr>
              <a:t>→ Template — le rendu HTML.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1752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0F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13639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Q2.  Quelle commande lance le serveur de dev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5661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44B78B"/>
                </a:solidFill>
                <a:latin typeface="Calibri"/>
              </a:rPr>
              <a:t>→ python manage.py runserver.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74519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0F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993391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Q3.  Pourquoi un environnement virtuel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423159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44B78B"/>
                </a:solidFill>
                <a:latin typeface="Calibri"/>
              </a:rPr>
              <a:t>→ Isoler les dépendances de chaque projet.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01752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0F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65392" y="313639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Q4.  Qui mappe une URL à une vue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5661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44B78B"/>
                </a:solidFill>
                <a:latin typeface="Calibri"/>
              </a:rPr>
              <a:t>→ urls.py via urlpatterns.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7772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 dirty="0">
                <a:solidFill>
                  <a:srgbClr val="6B7B74"/>
                </a:solidFill>
                <a:latin typeface="Calibri"/>
              </a:rPr>
              <a:t>Architecture </a:t>
            </a:r>
            <a:r>
              <a:rPr sz="900" b="0" i="0" dirty="0" err="1">
                <a:solidFill>
                  <a:srgbClr val="6B7B74"/>
                </a:solidFill>
                <a:latin typeface="Calibri"/>
              </a:rPr>
              <a:t>Fullstack</a:t>
            </a:r>
            <a:r>
              <a:rPr sz="900" b="0" i="0" dirty="0">
                <a:solidFill>
                  <a:srgbClr val="6B7B74"/>
                </a:solidFill>
                <a:latin typeface="Calibri"/>
              </a:rPr>
              <a:t> avec Django  ·  S01  ·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55664"/>
            <a:ext cx="10789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B74"/>
                </a:solidFill>
                <a:latin typeface="Calibri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4B78B"/>
                </a:solidFill>
                <a:latin typeface="Trebuchet MS"/>
              </a:rPr>
              <a:t>POUR ALLER PLUS LOIN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92E20"/>
                </a:solidFill>
                <a:latin typeface="Trebuchet MS"/>
              </a:rPr>
              <a:t>Ressources recommandées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56816"/>
            <a:ext cx="310896" cy="310896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92024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420"/>
                </a:solidFill>
                <a:latin typeface="Calibri"/>
              </a:rPr>
              <a:t>Documentation officielle Django : docs.djangoproject.com/fr/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734056"/>
            <a:ext cx="310896" cy="310896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69748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420"/>
                </a:solidFill>
                <a:latin typeface="Calibri"/>
              </a:rPr>
              <a:t>Tutoriel officiel « Polls » (partie 1).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11296"/>
            <a:ext cx="310896" cy="310896"/>
          </a:xfrm>
          <a:prstGeom prst="ellipse">
            <a:avLst/>
          </a:prstGeom>
          <a:solidFill>
            <a:srgbClr val="44B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47472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420"/>
                </a:solidFill>
                <a:latin typeface="Calibri"/>
              </a:rPr>
              <a:t>Livre Django for Beginners (W. Vincent), chap. 1 à 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212080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EC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521208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092E20"/>
                </a:solidFill>
                <a:latin typeface="Calibri"/>
              </a:rPr>
              <a:t>Astuce : la documentation officielle Django, DRF, React et Docker reste la source de verite — elle est referencee dans chaque support de session.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280160" y="-1280160"/>
            <a:ext cx="3657600" cy="3657600"/>
          </a:xfrm>
          <a:prstGeom prst="ellipse">
            <a:avLst/>
          </a:prstGeom>
          <a:solidFill>
            <a:srgbClr val="0F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4297680"/>
            <a:ext cx="3291840" cy="3291840"/>
          </a:xfrm>
          <a:prstGeom prst="ellipse">
            <a:avLst/>
          </a:prstGeom>
          <a:solidFill>
            <a:srgbClr val="0F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44B78B"/>
                </a:solidFill>
                <a:latin typeface="Trebuchet MS"/>
              </a:rPr>
              <a:t>Fin de la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Trebuchet MS"/>
              </a:rPr>
              <a:t>Introduction à l'architecture fullstack avec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434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B7CCC3"/>
                </a:solidFill>
                <a:latin typeface="Calibri"/>
              </a:rPr>
              <a:t>Prochaine etape  →  Création et configuration d'un projet Django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2576</Words>
  <Application>Microsoft Office PowerPoint</Application>
  <PresentationFormat>Grand écran</PresentationFormat>
  <Paragraphs>404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Consolas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Babacar Gueye</cp:lastModifiedBy>
  <cp:revision>19</cp:revision>
  <dcterms:created xsi:type="dcterms:W3CDTF">2013-01-27T09:14:16Z</dcterms:created>
  <dcterms:modified xsi:type="dcterms:W3CDTF">2026-06-15T07:17:36Z</dcterms:modified>
  <cp:category/>
</cp:coreProperties>
</file>